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Open Sans" charset="1" panose="00000000000000000000"/>
      <p:regular r:id="rId23"/>
    </p:embeddedFont>
    <p:embeddedFont>
      <p:font typeface="Bebas Neue Cyrillic" charset="1" panose="02000506000000020004"/>
      <p:regular r:id="rId24"/>
    </p:embeddedFont>
    <p:embeddedFont>
      <p:font typeface="Open Sans Bold"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1150951" y="1028700"/>
            <a:ext cx="6531784" cy="7718504"/>
          </a:xfrm>
          <a:custGeom>
            <a:avLst/>
            <a:gdLst/>
            <a:ahLst/>
            <a:cxnLst/>
            <a:rect r="r" b="b" t="t" l="l"/>
            <a:pathLst>
              <a:path h="7718504" w="6531784">
                <a:moveTo>
                  <a:pt x="0" y="0"/>
                </a:moveTo>
                <a:lnTo>
                  <a:pt x="6531783" y="0"/>
                </a:lnTo>
                <a:lnTo>
                  <a:pt x="6531783" y="7718504"/>
                </a:lnTo>
                <a:lnTo>
                  <a:pt x="0" y="7718504"/>
                </a:lnTo>
                <a:lnTo>
                  <a:pt x="0" y="0"/>
                </a:lnTo>
                <a:close/>
              </a:path>
            </a:pathLst>
          </a:custGeom>
          <a:blipFill>
            <a:blip r:embed="rId2"/>
            <a:stretch>
              <a:fillRect l="0" t="0" r="0" b="0"/>
            </a:stretch>
          </a:blipFill>
        </p:spPr>
      </p:sp>
      <p:sp>
        <p:nvSpPr>
          <p:cNvPr name="Freeform 9" id="9"/>
          <p:cNvSpPr/>
          <p:nvPr/>
        </p:nvSpPr>
        <p:spPr>
          <a:xfrm flipH="false" flipV="false" rot="0">
            <a:off x="-1395202" y="7060732"/>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3">
              <a:alphaModFix amt="43999"/>
            </a:blip>
            <a:stretch>
              <a:fillRect l="0" t="0" r="0" b="0"/>
            </a:stretch>
          </a:blipFill>
        </p:spPr>
      </p:sp>
      <p:sp>
        <p:nvSpPr>
          <p:cNvPr name="TextBox 10" id="10"/>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1" id="11"/>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2" id="12"/>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3" id="13"/>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4" id="14"/>
          <p:cNvSpPr txBox="true"/>
          <p:nvPr/>
        </p:nvSpPr>
        <p:spPr>
          <a:xfrm rot="0">
            <a:off x="880981" y="1324950"/>
            <a:ext cx="9921057" cy="3319828"/>
          </a:xfrm>
          <a:prstGeom prst="rect">
            <a:avLst/>
          </a:prstGeom>
        </p:spPr>
        <p:txBody>
          <a:bodyPr anchor="t" rtlCol="false" tIns="0" lIns="0" bIns="0" rIns="0">
            <a:spAutoFit/>
          </a:bodyPr>
          <a:lstStyle/>
          <a:p>
            <a:pPr algn="l">
              <a:lnSpc>
                <a:spcPts val="27018"/>
              </a:lnSpc>
              <a:spcBef>
                <a:spcPct val="0"/>
              </a:spcBef>
            </a:pPr>
            <a:r>
              <a:rPr lang="en-US" sz="19298">
                <a:solidFill>
                  <a:srgbClr val="FFFFFF"/>
                </a:solidFill>
                <a:latin typeface="Bebas Neue Cyrillic"/>
                <a:ea typeface="Bebas Neue Cyrillic"/>
                <a:cs typeface="Bebas Neue Cyrillic"/>
                <a:sym typeface="Bebas Neue Cyrillic"/>
              </a:rPr>
              <a:t>Project  NLP</a:t>
            </a:r>
          </a:p>
        </p:txBody>
      </p:sp>
      <p:sp>
        <p:nvSpPr>
          <p:cNvPr name="TextBox 15" id="15"/>
          <p:cNvSpPr txBox="true"/>
          <p:nvPr/>
        </p:nvSpPr>
        <p:spPr>
          <a:xfrm rot="0">
            <a:off x="1096491" y="4492378"/>
            <a:ext cx="8540949" cy="2593314"/>
          </a:xfrm>
          <a:prstGeom prst="rect">
            <a:avLst/>
          </a:prstGeom>
        </p:spPr>
        <p:txBody>
          <a:bodyPr anchor="t" rtlCol="false" tIns="0" lIns="0" bIns="0" rIns="0">
            <a:spAutoFit/>
          </a:bodyPr>
          <a:lstStyle/>
          <a:p>
            <a:pPr algn="l">
              <a:lnSpc>
                <a:spcPts val="10361"/>
              </a:lnSpc>
              <a:spcBef>
                <a:spcPct val="0"/>
              </a:spcBef>
            </a:pPr>
            <a:r>
              <a:rPr lang="en-US" sz="7400">
                <a:solidFill>
                  <a:srgbClr val="C101FB"/>
                </a:solidFill>
                <a:latin typeface="Bebas Neue Cyrillic"/>
                <a:ea typeface="Bebas Neue Cyrillic"/>
                <a:cs typeface="Bebas Neue Cyrillic"/>
                <a:sym typeface="Bebas Neue Cyrillic"/>
              </a:rPr>
              <a:t>Business Case: Automated Customer Reviews</a:t>
            </a:r>
          </a:p>
        </p:txBody>
      </p:sp>
      <p:sp>
        <p:nvSpPr>
          <p:cNvPr name="Freeform 16" id="16"/>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3">
              <a:alphaModFix amt="43999"/>
            </a:blip>
            <a:stretch>
              <a:fillRect l="0" t="0" r="0" b="0"/>
            </a:stretch>
          </a:blipFill>
        </p:spPr>
      </p:sp>
      <p:sp>
        <p:nvSpPr>
          <p:cNvPr name="Freeform 17" id="17"/>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3">
              <a:alphaModFix amt="43999"/>
            </a:blip>
            <a:stretch>
              <a:fillRect l="0" t="0" r="0" b="0"/>
            </a:stretch>
          </a:blipFill>
        </p:spPr>
      </p:sp>
      <p:sp>
        <p:nvSpPr>
          <p:cNvPr name="TextBox 18" id="18"/>
          <p:cNvSpPr txBox="true"/>
          <p:nvPr/>
        </p:nvSpPr>
        <p:spPr>
          <a:xfrm rot="0">
            <a:off x="1392539" y="7884087"/>
            <a:ext cx="2819630" cy="655988"/>
          </a:xfrm>
          <a:prstGeom prst="rect">
            <a:avLst/>
          </a:prstGeom>
        </p:spPr>
        <p:txBody>
          <a:bodyPr anchor="t" rtlCol="false" tIns="0" lIns="0" bIns="0" rIns="0">
            <a:spAutoFit/>
          </a:bodyPr>
          <a:lstStyle/>
          <a:p>
            <a:pPr algn="l">
              <a:lnSpc>
                <a:spcPts val="5320"/>
              </a:lnSpc>
              <a:spcBef>
                <a:spcPct val="0"/>
              </a:spcBef>
            </a:pPr>
            <a:r>
              <a:rPr lang="en-US" sz="3800">
                <a:solidFill>
                  <a:srgbClr val="FFFFFF"/>
                </a:solidFill>
                <a:latin typeface="Bebas Neue Cyrillic"/>
                <a:ea typeface="Bebas Neue Cyrillic"/>
                <a:cs typeface="Bebas Neue Cyrillic"/>
                <a:sym typeface="Bebas Neue Cyrillic"/>
              </a:rPr>
              <a:t>By : Wejdan Majid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95202" y="7060732"/>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10" id="10"/>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grpSp>
        <p:nvGrpSpPr>
          <p:cNvPr name="Group 11" id="11"/>
          <p:cNvGrpSpPr/>
          <p:nvPr/>
        </p:nvGrpSpPr>
        <p:grpSpPr>
          <a:xfrm rot="0">
            <a:off x="6074860" y="7225145"/>
            <a:ext cx="4045544" cy="761402"/>
            <a:chOff x="0" y="0"/>
            <a:chExt cx="578888" cy="108951"/>
          </a:xfrm>
        </p:grpSpPr>
        <p:sp>
          <p:nvSpPr>
            <p:cNvPr name="Freeform 12" id="12"/>
            <p:cNvSpPr/>
            <p:nvPr/>
          </p:nvSpPr>
          <p:spPr>
            <a:xfrm flipH="false" flipV="false" rot="0">
              <a:off x="0" y="0"/>
              <a:ext cx="578889" cy="108951"/>
            </a:xfrm>
            <a:custGeom>
              <a:avLst/>
              <a:gdLst/>
              <a:ahLst/>
              <a:cxnLst/>
              <a:rect r="r" b="b" t="t" l="l"/>
              <a:pathLst>
                <a:path h="108951" w="578889">
                  <a:moveTo>
                    <a:pt x="0" y="0"/>
                  </a:moveTo>
                  <a:lnTo>
                    <a:pt x="578889" y="0"/>
                  </a:lnTo>
                  <a:lnTo>
                    <a:pt x="578889" y="108951"/>
                  </a:lnTo>
                  <a:lnTo>
                    <a:pt x="0" y="108951"/>
                  </a:lnTo>
                  <a:close/>
                </a:path>
              </a:pathLst>
            </a:custGeom>
            <a:gradFill rotWithShape="true">
              <a:gsLst>
                <a:gs pos="0">
                  <a:srgbClr val="003A89">
                    <a:alpha val="100000"/>
                  </a:srgbClr>
                </a:gs>
                <a:gs pos="100000">
                  <a:srgbClr val="C700FF">
                    <a:alpha val="100000"/>
                  </a:srgbClr>
                </a:gs>
              </a:gsLst>
              <a:lin ang="2700000"/>
            </a:gradFill>
          </p:spPr>
        </p:sp>
        <p:sp>
          <p:nvSpPr>
            <p:cNvPr name="TextBox 13" id="13"/>
            <p:cNvSpPr txBox="true"/>
            <p:nvPr/>
          </p:nvSpPr>
          <p:spPr>
            <a:xfrm>
              <a:off x="0" y="-38100"/>
              <a:ext cx="578888" cy="147051"/>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6470405" y="3181615"/>
            <a:ext cx="3254453" cy="3254453"/>
          </a:xfrm>
          <a:custGeom>
            <a:avLst/>
            <a:gdLst/>
            <a:ahLst/>
            <a:cxnLst/>
            <a:rect r="r" b="b" t="t" l="l"/>
            <a:pathLst>
              <a:path h="3254453" w="3254453">
                <a:moveTo>
                  <a:pt x="0" y="0"/>
                </a:moveTo>
                <a:lnTo>
                  <a:pt x="3254453" y="0"/>
                </a:lnTo>
                <a:lnTo>
                  <a:pt x="3254453" y="3254453"/>
                </a:lnTo>
                <a:lnTo>
                  <a:pt x="0" y="32544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6" id="16"/>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7" id="17"/>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8" id="18"/>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9" id="19"/>
          <p:cNvSpPr txBox="true"/>
          <p:nvPr/>
        </p:nvSpPr>
        <p:spPr>
          <a:xfrm rot="0">
            <a:off x="6573509" y="7446975"/>
            <a:ext cx="3048245" cy="289280"/>
          </a:xfrm>
          <a:prstGeom prst="rect">
            <a:avLst/>
          </a:prstGeom>
        </p:spPr>
        <p:txBody>
          <a:bodyPr anchor="t" rtlCol="false" tIns="0" lIns="0" bIns="0" rIns="0">
            <a:spAutoFit/>
          </a:bodyPr>
          <a:lstStyle/>
          <a:p>
            <a:pPr algn="ctr">
              <a:lnSpc>
                <a:spcPts val="2432"/>
              </a:lnSpc>
              <a:spcBef>
                <a:spcPct val="0"/>
              </a:spcBef>
            </a:pPr>
            <a:r>
              <a:rPr lang="en-US" b="true" sz="1737">
                <a:solidFill>
                  <a:srgbClr val="FFFFFF"/>
                </a:solidFill>
                <a:latin typeface="Open Sans Bold"/>
                <a:ea typeface="Open Sans Bold"/>
                <a:cs typeface="Open Sans Bold"/>
                <a:sym typeface="Open Sans Bold"/>
              </a:rPr>
              <a:t>WEJDAN MAJID</a:t>
            </a:r>
          </a:p>
        </p:txBody>
      </p:sp>
      <p:sp>
        <p:nvSpPr>
          <p:cNvPr name="TextBox 20" id="20"/>
          <p:cNvSpPr txBox="true"/>
          <p:nvPr/>
        </p:nvSpPr>
        <p:spPr>
          <a:xfrm rot="0">
            <a:off x="1028700" y="1375702"/>
            <a:ext cx="3963831" cy="1394457"/>
          </a:xfrm>
          <a:prstGeom prst="rect">
            <a:avLst/>
          </a:prstGeom>
        </p:spPr>
        <p:txBody>
          <a:bodyPr anchor="t" rtlCol="false" tIns="0" lIns="0" bIns="0" rIns="0">
            <a:spAutoFit/>
          </a:bodyPr>
          <a:lstStyle/>
          <a:p>
            <a:pPr algn="l">
              <a:lnSpc>
                <a:spcPts val="11339"/>
              </a:lnSpc>
              <a:spcBef>
                <a:spcPct val="0"/>
              </a:spcBef>
            </a:pPr>
            <a:r>
              <a:rPr lang="en-US" sz="8099">
                <a:solidFill>
                  <a:srgbClr val="C101FB"/>
                </a:solidFill>
                <a:latin typeface="Bebas Neue Cyrillic"/>
                <a:ea typeface="Bebas Neue Cyrillic"/>
                <a:cs typeface="Bebas Neue Cyrillic"/>
                <a:sym typeface="Bebas Neue Cyrillic"/>
              </a:rPr>
              <a:t>This is me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grpSp>
        <p:nvGrpSpPr>
          <p:cNvPr name="Group 9" id="9"/>
          <p:cNvGrpSpPr/>
          <p:nvPr/>
        </p:nvGrpSpPr>
        <p:grpSpPr>
          <a:xfrm rot="0">
            <a:off x="427525" y="1318270"/>
            <a:ext cx="7205477" cy="8968730"/>
            <a:chOff x="0" y="0"/>
            <a:chExt cx="5101590" cy="6350000"/>
          </a:xfrm>
        </p:grpSpPr>
        <p:sp>
          <p:nvSpPr>
            <p:cNvPr name="Freeform 10" id="10"/>
            <p:cNvSpPr/>
            <p:nvPr/>
          </p:nvSpPr>
          <p:spPr>
            <a:xfrm flipH="false" flipV="false" rot="0">
              <a:off x="0" y="0"/>
              <a:ext cx="5101590" cy="6350000"/>
            </a:xfrm>
            <a:custGeom>
              <a:avLst/>
              <a:gdLst/>
              <a:ahLst/>
              <a:cxnLst/>
              <a:rect r="r" b="b" t="t" l="l"/>
              <a:pathLst>
                <a:path h="6350000" w="5101590">
                  <a:moveTo>
                    <a:pt x="4216400" y="0"/>
                  </a:moveTo>
                  <a:lnTo>
                    <a:pt x="1838960" y="0"/>
                  </a:lnTo>
                  <a:lnTo>
                    <a:pt x="0" y="1838960"/>
                  </a:lnTo>
                  <a:lnTo>
                    <a:pt x="0" y="1913890"/>
                  </a:lnTo>
                  <a:lnTo>
                    <a:pt x="0" y="6350000"/>
                  </a:lnTo>
                  <a:lnTo>
                    <a:pt x="2209800" y="6350000"/>
                  </a:lnTo>
                  <a:lnTo>
                    <a:pt x="3263900" y="5295900"/>
                  </a:lnTo>
                  <a:lnTo>
                    <a:pt x="4047490" y="4511040"/>
                  </a:lnTo>
                  <a:lnTo>
                    <a:pt x="5101590" y="3456940"/>
                  </a:lnTo>
                  <a:lnTo>
                    <a:pt x="5101590" y="2217420"/>
                  </a:lnTo>
                  <a:lnTo>
                    <a:pt x="5101590" y="1348740"/>
                  </a:lnTo>
                  <a:close/>
                </a:path>
              </a:pathLst>
            </a:custGeom>
            <a:gradFill rotWithShape="true">
              <a:gsLst>
                <a:gs pos="0">
                  <a:srgbClr val="003A89">
                    <a:alpha val="100000"/>
                  </a:srgbClr>
                </a:gs>
                <a:gs pos="100000">
                  <a:srgbClr val="C700FF">
                    <a:alpha val="100000"/>
                  </a:srgbClr>
                </a:gs>
              </a:gsLst>
              <a:lin ang="2700000"/>
            </a:gradFill>
            <a:ln w="12700">
              <a:solidFill>
                <a:srgbClr val="000000"/>
              </a:solidFill>
            </a:ln>
          </p:spPr>
        </p:sp>
      </p:grpSp>
      <p:sp>
        <p:nvSpPr>
          <p:cNvPr name="Freeform 11" id="11"/>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grpSp>
        <p:nvGrpSpPr>
          <p:cNvPr name="Group 12" id="12"/>
          <p:cNvGrpSpPr/>
          <p:nvPr/>
        </p:nvGrpSpPr>
        <p:grpSpPr>
          <a:xfrm rot="0">
            <a:off x="97872" y="1318270"/>
            <a:ext cx="7205477" cy="8968730"/>
            <a:chOff x="0" y="0"/>
            <a:chExt cx="5101590" cy="6350000"/>
          </a:xfrm>
        </p:grpSpPr>
        <p:sp>
          <p:nvSpPr>
            <p:cNvPr name="Freeform 13" id="13"/>
            <p:cNvSpPr/>
            <p:nvPr/>
          </p:nvSpPr>
          <p:spPr>
            <a:xfrm flipH="false" flipV="false" rot="0">
              <a:off x="0" y="0"/>
              <a:ext cx="5101590" cy="6350000"/>
            </a:xfrm>
            <a:custGeom>
              <a:avLst/>
              <a:gdLst/>
              <a:ahLst/>
              <a:cxnLst/>
              <a:rect r="r" b="b" t="t" l="l"/>
              <a:pathLst>
                <a:path h="6350000" w="5101590">
                  <a:moveTo>
                    <a:pt x="4216400" y="0"/>
                  </a:moveTo>
                  <a:lnTo>
                    <a:pt x="1838960" y="0"/>
                  </a:lnTo>
                  <a:lnTo>
                    <a:pt x="0" y="1838960"/>
                  </a:lnTo>
                  <a:lnTo>
                    <a:pt x="0" y="1913890"/>
                  </a:lnTo>
                  <a:lnTo>
                    <a:pt x="0" y="6350000"/>
                  </a:lnTo>
                  <a:lnTo>
                    <a:pt x="2209800" y="6350000"/>
                  </a:lnTo>
                  <a:lnTo>
                    <a:pt x="3263900" y="5295900"/>
                  </a:lnTo>
                  <a:lnTo>
                    <a:pt x="4047490" y="4511040"/>
                  </a:lnTo>
                  <a:lnTo>
                    <a:pt x="5101590" y="3456940"/>
                  </a:lnTo>
                  <a:lnTo>
                    <a:pt x="5101590" y="2217420"/>
                  </a:lnTo>
                  <a:lnTo>
                    <a:pt x="5101590" y="1348740"/>
                  </a:lnTo>
                  <a:close/>
                </a:path>
              </a:pathLst>
            </a:custGeom>
            <a:blipFill>
              <a:blip r:embed="rId3"/>
              <a:stretch>
                <a:fillRect l="0" t="-21413" r="0" b="-21413"/>
              </a:stretch>
            </a:blipFill>
          </p:spPr>
        </p:sp>
      </p:grpSp>
      <p:sp>
        <p:nvSpPr>
          <p:cNvPr name="TextBox 14" id="14"/>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5" id="15"/>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6" id="16"/>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7" id="17"/>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8" id="18"/>
          <p:cNvSpPr txBox="true"/>
          <p:nvPr/>
        </p:nvSpPr>
        <p:spPr>
          <a:xfrm rot="0">
            <a:off x="8625204" y="2888179"/>
            <a:ext cx="8471684" cy="2323586"/>
          </a:xfrm>
          <a:prstGeom prst="rect">
            <a:avLst/>
          </a:prstGeom>
        </p:spPr>
        <p:txBody>
          <a:bodyPr anchor="t" rtlCol="false" tIns="0" lIns="0" bIns="0" rIns="0">
            <a:spAutoFit/>
          </a:bodyPr>
          <a:lstStyle/>
          <a:p>
            <a:pPr algn="l" marL="410208" indent="-205104" lvl="1">
              <a:lnSpc>
                <a:spcPts val="2659"/>
              </a:lnSpc>
              <a:buFont typeface="Arial"/>
              <a:buChar char="•"/>
            </a:pPr>
            <a:r>
              <a:rPr lang="en-US" b="true" sz="1899">
                <a:solidFill>
                  <a:srgbClr val="FFFFFF"/>
                </a:solidFill>
                <a:latin typeface="Open Sans Bold"/>
                <a:ea typeface="Open Sans Bold"/>
                <a:cs typeface="Open Sans Bold"/>
                <a:sym typeface="Open Sans Bold"/>
              </a:rPr>
              <a:t>Developed a product review analysis system using NLP models.</a:t>
            </a:r>
          </a:p>
          <a:p>
            <a:pPr algn="l" marL="410208" indent="-205104" lvl="1">
              <a:lnSpc>
                <a:spcPts val="2659"/>
              </a:lnSpc>
              <a:buFont typeface="Arial"/>
              <a:buChar char="•"/>
            </a:pPr>
            <a:r>
              <a:rPr lang="en-US" b="true" sz="1899">
                <a:solidFill>
                  <a:srgbClr val="FFFFFF"/>
                </a:solidFill>
                <a:latin typeface="Open Sans Bold"/>
                <a:ea typeface="Open Sans Bold"/>
                <a:cs typeface="Open Sans Bold"/>
                <a:sym typeface="Open Sans Bold"/>
              </a:rPr>
              <a:t>Key tasks:</a:t>
            </a:r>
          </a:p>
          <a:p>
            <a:pPr algn="l" marL="410208" indent="-205104" lvl="1">
              <a:lnSpc>
                <a:spcPts val="2659"/>
              </a:lnSpc>
              <a:buFont typeface="Arial"/>
              <a:buChar char="•"/>
            </a:pPr>
            <a:r>
              <a:rPr lang="en-US" b="true" sz="1899">
                <a:solidFill>
                  <a:srgbClr val="FFFFFF"/>
                </a:solidFill>
                <a:latin typeface="Open Sans Bold"/>
                <a:ea typeface="Open Sans Bold"/>
                <a:cs typeface="Open Sans Bold"/>
                <a:sym typeface="Open Sans Bold"/>
              </a:rPr>
              <a:t>Classify customer reviews (positive/negative/neutral).</a:t>
            </a:r>
          </a:p>
          <a:p>
            <a:pPr algn="l" marL="410208" indent="-205104" lvl="1">
              <a:lnSpc>
                <a:spcPts val="2659"/>
              </a:lnSpc>
              <a:buFont typeface="Arial"/>
              <a:buChar char="•"/>
            </a:pPr>
            <a:r>
              <a:rPr lang="en-US" b="true" sz="1899">
                <a:solidFill>
                  <a:srgbClr val="FFFFFF"/>
                </a:solidFill>
                <a:latin typeface="Open Sans Bold"/>
                <a:ea typeface="Open Sans Bold"/>
                <a:cs typeface="Open Sans Bold"/>
                <a:sym typeface="Open Sans Bold"/>
              </a:rPr>
              <a:t>Cluster products by category.</a:t>
            </a:r>
          </a:p>
          <a:p>
            <a:pPr algn="l" marL="410208" indent="-205104" lvl="1">
              <a:lnSpc>
                <a:spcPts val="2659"/>
              </a:lnSpc>
              <a:buFont typeface="Arial"/>
              <a:buChar char="•"/>
            </a:pPr>
            <a:r>
              <a:rPr lang="en-US" b="true" sz="1899">
                <a:solidFill>
                  <a:srgbClr val="FFFFFF"/>
                </a:solidFill>
                <a:latin typeface="Open Sans Bold"/>
                <a:ea typeface="Open Sans Bold"/>
                <a:cs typeface="Open Sans Bold"/>
                <a:sym typeface="Open Sans Bold"/>
              </a:rPr>
              <a:t>Use generative AI to create short recommendation articles from reviews.</a:t>
            </a:r>
          </a:p>
          <a:p>
            <a:pPr algn="l">
              <a:lnSpc>
                <a:spcPts val="2659"/>
              </a:lnSpc>
              <a:spcBef>
                <a:spcPct val="0"/>
              </a:spcBef>
            </a:pPr>
          </a:p>
        </p:txBody>
      </p:sp>
      <p:sp>
        <p:nvSpPr>
          <p:cNvPr name="TextBox 19" id="19"/>
          <p:cNvSpPr txBox="true"/>
          <p:nvPr/>
        </p:nvSpPr>
        <p:spPr>
          <a:xfrm rot="0">
            <a:off x="8625204" y="5340300"/>
            <a:ext cx="6711094" cy="1193769"/>
          </a:xfrm>
          <a:prstGeom prst="rect">
            <a:avLst/>
          </a:prstGeom>
        </p:spPr>
        <p:txBody>
          <a:bodyPr anchor="t" rtlCol="false" tIns="0" lIns="0" bIns="0" rIns="0">
            <a:spAutoFit/>
          </a:bodyPr>
          <a:lstStyle/>
          <a:p>
            <a:pPr algn="l">
              <a:lnSpc>
                <a:spcPts val="9799"/>
              </a:lnSpc>
              <a:spcBef>
                <a:spcPct val="0"/>
              </a:spcBef>
            </a:pPr>
            <a:r>
              <a:rPr lang="en-US" sz="6999">
                <a:solidFill>
                  <a:srgbClr val="C101FB"/>
                </a:solidFill>
                <a:latin typeface="Bebas Neue Cyrillic"/>
                <a:ea typeface="Bebas Neue Cyrillic"/>
                <a:cs typeface="Bebas Neue Cyrillic"/>
                <a:sym typeface="Bebas Neue Cyrillic"/>
              </a:rPr>
              <a:t>Problem Statement:</a:t>
            </a:r>
          </a:p>
        </p:txBody>
      </p:sp>
      <p:sp>
        <p:nvSpPr>
          <p:cNvPr name="TextBox 20" id="20"/>
          <p:cNvSpPr txBox="true"/>
          <p:nvPr/>
        </p:nvSpPr>
        <p:spPr>
          <a:xfrm rot="0">
            <a:off x="8397850" y="1404277"/>
            <a:ext cx="5753720" cy="1193766"/>
          </a:xfrm>
          <a:prstGeom prst="rect">
            <a:avLst/>
          </a:prstGeom>
        </p:spPr>
        <p:txBody>
          <a:bodyPr anchor="t" rtlCol="false" tIns="0" lIns="0" bIns="0" rIns="0">
            <a:spAutoFit/>
          </a:bodyPr>
          <a:lstStyle/>
          <a:p>
            <a:pPr algn="l">
              <a:lnSpc>
                <a:spcPts val="9799"/>
              </a:lnSpc>
              <a:spcBef>
                <a:spcPct val="0"/>
              </a:spcBef>
            </a:pPr>
            <a:r>
              <a:rPr lang="en-US" sz="6999">
                <a:solidFill>
                  <a:srgbClr val="C101FB"/>
                </a:solidFill>
                <a:latin typeface="Bebas Neue Cyrillic"/>
                <a:ea typeface="Bebas Neue Cyrillic"/>
                <a:cs typeface="Bebas Neue Cyrillic"/>
                <a:sym typeface="Bebas Neue Cyrillic"/>
              </a:rPr>
              <a:t> Project overview </a:t>
            </a:r>
          </a:p>
        </p:txBody>
      </p:sp>
      <p:sp>
        <p:nvSpPr>
          <p:cNvPr name="TextBox 21" id="21"/>
          <p:cNvSpPr txBox="true"/>
          <p:nvPr/>
        </p:nvSpPr>
        <p:spPr>
          <a:xfrm rot="0">
            <a:off x="8625204" y="7000794"/>
            <a:ext cx="8554483" cy="1656802"/>
          </a:xfrm>
          <a:prstGeom prst="rect">
            <a:avLst/>
          </a:prstGeom>
        </p:spPr>
        <p:txBody>
          <a:bodyPr anchor="t" rtlCol="false" tIns="0" lIns="0" bIns="0" rIns="0">
            <a:spAutoFit/>
          </a:bodyPr>
          <a:lstStyle/>
          <a:p>
            <a:pPr algn="l" marL="410208" indent="-205104" lvl="1">
              <a:lnSpc>
                <a:spcPts val="2659"/>
              </a:lnSpc>
              <a:buFont typeface="Arial"/>
              <a:buChar char="•"/>
            </a:pPr>
            <a:r>
              <a:rPr lang="en-US" b="true" sz="1899">
                <a:solidFill>
                  <a:srgbClr val="FFFFFF"/>
                </a:solidFill>
                <a:latin typeface="Open Sans Bold"/>
                <a:ea typeface="Open Sans Bold"/>
                <a:cs typeface="Open Sans Bold"/>
                <a:sym typeface="Open Sans Bold"/>
              </a:rPr>
              <a:t>Manually analyzing thousands of product reviews is time-consuming and inefficient.</a:t>
            </a:r>
          </a:p>
          <a:p>
            <a:pPr algn="l" marL="410208" indent="-205104" lvl="1">
              <a:lnSpc>
                <a:spcPts val="2659"/>
              </a:lnSpc>
              <a:buFont typeface="Arial"/>
              <a:buChar char="•"/>
            </a:pPr>
            <a:r>
              <a:rPr lang="en-US" b="true" sz="1899">
                <a:solidFill>
                  <a:srgbClr val="FFFFFF"/>
                </a:solidFill>
                <a:latin typeface="Open Sans Bold"/>
                <a:ea typeface="Open Sans Bold"/>
                <a:cs typeface="Open Sans Bold"/>
                <a:sym typeface="Open Sans Bold"/>
              </a:rPr>
              <a:t>The project automates insight extraction and generates useful recommendations for users.</a:t>
            </a:r>
          </a:p>
          <a:p>
            <a:pPr algn="l">
              <a:lnSpc>
                <a:spcPts val="265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grpSp>
        <p:nvGrpSpPr>
          <p:cNvPr name="Group 9" id="9"/>
          <p:cNvGrpSpPr/>
          <p:nvPr/>
        </p:nvGrpSpPr>
        <p:grpSpPr>
          <a:xfrm rot="0">
            <a:off x="427525" y="1318270"/>
            <a:ext cx="7205477" cy="8968730"/>
            <a:chOff x="0" y="0"/>
            <a:chExt cx="5101590" cy="6350000"/>
          </a:xfrm>
        </p:grpSpPr>
        <p:sp>
          <p:nvSpPr>
            <p:cNvPr name="Freeform 10" id="10"/>
            <p:cNvSpPr/>
            <p:nvPr/>
          </p:nvSpPr>
          <p:spPr>
            <a:xfrm flipH="false" flipV="false" rot="0">
              <a:off x="0" y="0"/>
              <a:ext cx="5101590" cy="6350000"/>
            </a:xfrm>
            <a:custGeom>
              <a:avLst/>
              <a:gdLst/>
              <a:ahLst/>
              <a:cxnLst/>
              <a:rect r="r" b="b" t="t" l="l"/>
              <a:pathLst>
                <a:path h="6350000" w="5101590">
                  <a:moveTo>
                    <a:pt x="4216400" y="0"/>
                  </a:moveTo>
                  <a:lnTo>
                    <a:pt x="1838960" y="0"/>
                  </a:lnTo>
                  <a:lnTo>
                    <a:pt x="0" y="1838960"/>
                  </a:lnTo>
                  <a:lnTo>
                    <a:pt x="0" y="1913890"/>
                  </a:lnTo>
                  <a:lnTo>
                    <a:pt x="0" y="6350000"/>
                  </a:lnTo>
                  <a:lnTo>
                    <a:pt x="2209800" y="6350000"/>
                  </a:lnTo>
                  <a:lnTo>
                    <a:pt x="3263900" y="5295900"/>
                  </a:lnTo>
                  <a:lnTo>
                    <a:pt x="4047490" y="4511040"/>
                  </a:lnTo>
                  <a:lnTo>
                    <a:pt x="5101590" y="3456940"/>
                  </a:lnTo>
                  <a:lnTo>
                    <a:pt x="5101590" y="2217420"/>
                  </a:lnTo>
                  <a:lnTo>
                    <a:pt x="5101590" y="1348740"/>
                  </a:lnTo>
                  <a:close/>
                </a:path>
              </a:pathLst>
            </a:custGeom>
            <a:gradFill rotWithShape="true">
              <a:gsLst>
                <a:gs pos="0">
                  <a:srgbClr val="003A89">
                    <a:alpha val="100000"/>
                  </a:srgbClr>
                </a:gs>
                <a:gs pos="100000">
                  <a:srgbClr val="C700FF">
                    <a:alpha val="100000"/>
                  </a:srgbClr>
                </a:gs>
              </a:gsLst>
              <a:lin ang="2700000"/>
            </a:gradFill>
            <a:ln w="12700">
              <a:solidFill>
                <a:srgbClr val="000000"/>
              </a:solidFill>
            </a:ln>
          </p:spPr>
        </p:sp>
      </p:grpSp>
      <p:sp>
        <p:nvSpPr>
          <p:cNvPr name="Freeform 11" id="11"/>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grpSp>
        <p:nvGrpSpPr>
          <p:cNvPr name="Group 12" id="12"/>
          <p:cNvGrpSpPr/>
          <p:nvPr/>
        </p:nvGrpSpPr>
        <p:grpSpPr>
          <a:xfrm rot="0">
            <a:off x="0" y="1318270"/>
            <a:ext cx="7205477" cy="8968730"/>
            <a:chOff x="0" y="0"/>
            <a:chExt cx="5101590" cy="6350000"/>
          </a:xfrm>
        </p:grpSpPr>
        <p:sp>
          <p:nvSpPr>
            <p:cNvPr name="Freeform 13" id="13"/>
            <p:cNvSpPr/>
            <p:nvPr/>
          </p:nvSpPr>
          <p:spPr>
            <a:xfrm flipH="false" flipV="false" rot="0">
              <a:off x="0" y="0"/>
              <a:ext cx="5101590" cy="6350000"/>
            </a:xfrm>
            <a:custGeom>
              <a:avLst/>
              <a:gdLst/>
              <a:ahLst/>
              <a:cxnLst/>
              <a:rect r="r" b="b" t="t" l="l"/>
              <a:pathLst>
                <a:path h="6350000" w="5101590">
                  <a:moveTo>
                    <a:pt x="4216400" y="0"/>
                  </a:moveTo>
                  <a:lnTo>
                    <a:pt x="1838960" y="0"/>
                  </a:lnTo>
                  <a:lnTo>
                    <a:pt x="0" y="1838960"/>
                  </a:lnTo>
                  <a:lnTo>
                    <a:pt x="0" y="1913890"/>
                  </a:lnTo>
                  <a:lnTo>
                    <a:pt x="0" y="6350000"/>
                  </a:lnTo>
                  <a:lnTo>
                    <a:pt x="2209800" y="6350000"/>
                  </a:lnTo>
                  <a:lnTo>
                    <a:pt x="3263900" y="5295900"/>
                  </a:lnTo>
                  <a:lnTo>
                    <a:pt x="4047490" y="4511040"/>
                  </a:lnTo>
                  <a:lnTo>
                    <a:pt x="5101590" y="3456940"/>
                  </a:lnTo>
                  <a:lnTo>
                    <a:pt x="5101590" y="2217420"/>
                  </a:lnTo>
                  <a:lnTo>
                    <a:pt x="5101590" y="1348740"/>
                  </a:lnTo>
                  <a:close/>
                </a:path>
              </a:pathLst>
            </a:custGeom>
            <a:blipFill>
              <a:blip r:embed="rId3"/>
              <a:stretch>
                <a:fillRect l="0" t="-10255" r="0" b="-10255"/>
              </a:stretch>
            </a:blipFill>
          </p:spPr>
        </p:sp>
      </p:grpSp>
      <p:sp>
        <p:nvSpPr>
          <p:cNvPr name="TextBox 14" id="14"/>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5" id="15"/>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6" id="16"/>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7" id="17"/>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8" id="18"/>
          <p:cNvSpPr txBox="true"/>
          <p:nvPr/>
        </p:nvSpPr>
        <p:spPr>
          <a:xfrm rot="0">
            <a:off x="7971523" y="6653351"/>
            <a:ext cx="9287777" cy="1102344"/>
          </a:xfrm>
          <a:prstGeom prst="rect">
            <a:avLst/>
          </a:prstGeom>
        </p:spPr>
        <p:txBody>
          <a:bodyPr anchor="t" rtlCol="false" tIns="0" lIns="0" bIns="0" rIns="0">
            <a:spAutoFit/>
          </a:bodyPr>
          <a:lstStyle/>
          <a:p>
            <a:pPr algn="l">
              <a:lnSpc>
                <a:spcPts val="5739"/>
              </a:lnSpc>
            </a:pPr>
            <a:r>
              <a:rPr lang="en-US" sz="4099">
                <a:solidFill>
                  <a:srgbClr val="C101FB"/>
                </a:solidFill>
                <a:latin typeface="Bebas Neue Cyrillic"/>
                <a:ea typeface="Bebas Neue Cyrillic"/>
                <a:cs typeface="Bebas Neue Cyrillic"/>
                <a:sym typeface="Bebas Neue Cyrillic"/>
              </a:rPr>
              <a:t>After merging, the resulting dataset contained:</a:t>
            </a:r>
          </a:p>
          <a:p>
            <a:pPr algn="l">
              <a:lnSpc>
                <a:spcPts val="2939"/>
              </a:lnSpc>
              <a:spcBef>
                <a:spcPct val="0"/>
              </a:spcBef>
            </a:pPr>
          </a:p>
        </p:txBody>
      </p:sp>
      <p:sp>
        <p:nvSpPr>
          <p:cNvPr name="TextBox 19" id="19"/>
          <p:cNvSpPr txBox="true"/>
          <p:nvPr/>
        </p:nvSpPr>
        <p:spPr>
          <a:xfrm rot="0">
            <a:off x="8328294" y="1228033"/>
            <a:ext cx="6702592" cy="1193766"/>
          </a:xfrm>
          <a:prstGeom prst="rect">
            <a:avLst/>
          </a:prstGeom>
        </p:spPr>
        <p:txBody>
          <a:bodyPr anchor="t" rtlCol="false" tIns="0" lIns="0" bIns="0" rIns="0">
            <a:spAutoFit/>
          </a:bodyPr>
          <a:lstStyle/>
          <a:p>
            <a:pPr algn="l">
              <a:lnSpc>
                <a:spcPts val="9799"/>
              </a:lnSpc>
              <a:spcBef>
                <a:spcPct val="0"/>
              </a:spcBef>
            </a:pPr>
            <a:r>
              <a:rPr lang="en-US" sz="6999">
                <a:solidFill>
                  <a:srgbClr val="C101FB"/>
                </a:solidFill>
                <a:latin typeface="Bebas Neue Cyrillic"/>
                <a:ea typeface="Bebas Neue Cyrillic"/>
                <a:cs typeface="Bebas Neue Cyrillic"/>
                <a:sym typeface="Bebas Neue Cyrillic"/>
              </a:rPr>
              <a:t>About THe dataset</a:t>
            </a:r>
          </a:p>
        </p:txBody>
      </p:sp>
      <p:sp>
        <p:nvSpPr>
          <p:cNvPr name="TextBox 20" id="20"/>
          <p:cNvSpPr txBox="true"/>
          <p:nvPr/>
        </p:nvSpPr>
        <p:spPr>
          <a:xfrm rot="0">
            <a:off x="8080148" y="2599261"/>
            <a:ext cx="8826338" cy="3920740"/>
          </a:xfrm>
          <a:prstGeom prst="rect">
            <a:avLst/>
          </a:prstGeom>
        </p:spPr>
        <p:txBody>
          <a:bodyPr anchor="t" rtlCol="false" tIns="0" lIns="0" bIns="0" rIns="0">
            <a:spAutoFit/>
          </a:bodyPr>
          <a:lstStyle/>
          <a:p>
            <a:pPr algn="l">
              <a:lnSpc>
                <a:spcPts val="3359"/>
              </a:lnSpc>
            </a:pPr>
            <a:r>
              <a:rPr lang="en-US" sz="2399" b="true">
                <a:solidFill>
                  <a:srgbClr val="FFFFFF"/>
                </a:solidFill>
                <a:latin typeface="Open Sans Bold"/>
                <a:ea typeface="Open Sans Bold"/>
                <a:cs typeface="Open Sans Bold"/>
                <a:sym typeface="Open Sans Bold"/>
              </a:rPr>
              <a:t>Used the Consumer Reviews of Amazon Products dataset available on Kaggle.</a:t>
            </a:r>
          </a:p>
          <a:p>
            <a:pPr algn="l">
              <a:lnSpc>
                <a:spcPts val="3359"/>
              </a:lnSpc>
            </a:pPr>
          </a:p>
          <a:p>
            <a:pPr algn="l">
              <a:lnSpc>
                <a:spcPts val="3359"/>
              </a:lnSpc>
            </a:pPr>
            <a:r>
              <a:rPr lang="en-US" sz="2399" b="true">
                <a:solidFill>
                  <a:srgbClr val="FFFFFF"/>
                </a:solidFill>
                <a:latin typeface="Open Sans Bold"/>
                <a:ea typeface="Open Sans Bold"/>
                <a:cs typeface="Open Sans Bold"/>
                <a:sym typeface="Open Sans Bold"/>
              </a:rPr>
              <a:t>The dataset included three CSV files.</a:t>
            </a:r>
          </a:p>
          <a:p>
            <a:pPr algn="l">
              <a:lnSpc>
                <a:spcPts val="3359"/>
              </a:lnSpc>
            </a:pPr>
          </a:p>
          <a:p>
            <a:pPr algn="l">
              <a:lnSpc>
                <a:spcPts val="3359"/>
              </a:lnSpc>
            </a:pPr>
            <a:r>
              <a:rPr lang="en-US" sz="2399" b="true">
                <a:solidFill>
                  <a:srgbClr val="FFFFFF"/>
                </a:solidFill>
                <a:latin typeface="Open Sans Bold"/>
                <a:ea typeface="Open Sans Bold"/>
                <a:cs typeface="Open Sans Bold"/>
                <a:sym typeface="Open Sans Bold"/>
              </a:rPr>
              <a:t>Merged two files:</a:t>
            </a:r>
          </a:p>
          <a:p>
            <a:pPr algn="l">
              <a:lnSpc>
                <a:spcPts val="3359"/>
              </a:lnSpc>
            </a:pPr>
          </a:p>
          <a:p>
            <a:pPr algn="l" marL="367029" indent="-183514" lvl="1">
              <a:lnSpc>
                <a:spcPts val="2379"/>
              </a:lnSpc>
              <a:buFont typeface="Arial"/>
              <a:buChar char="•"/>
            </a:pPr>
            <a:r>
              <a:rPr lang="en-US" sz="1699">
                <a:solidFill>
                  <a:srgbClr val="FFFFFF"/>
                </a:solidFill>
                <a:latin typeface="Open Sans"/>
                <a:ea typeface="Open Sans"/>
                <a:cs typeface="Open Sans"/>
                <a:sym typeface="Open Sans"/>
              </a:rPr>
              <a:t>Datafiniti_Amazon_Consumer_Reviews_of_Amazon_Products.csv</a:t>
            </a:r>
          </a:p>
          <a:p>
            <a:pPr algn="l" marL="367029" indent="-183514" lvl="1">
              <a:lnSpc>
                <a:spcPts val="2379"/>
              </a:lnSpc>
              <a:buFont typeface="Arial"/>
              <a:buChar char="•"/>
            </a:pPr>
            <a:r>
              <a:rPr lang="en-US" sz="1699">
                <a:solidFill>
                  <a:srgbClr val="FFFFFF"/>
                </a:solidFill>
                <a:latin typeface="Open Sans"/>
                <a:ea typeface="Open Sans"/>
                <a:cs typeface="Open Sans"/>
                <a:sym typeface="Open Sans"/>
              </a:rPr>
              <a:t>Datafiniti_Amazon_Consumer_Reviews_of_Amazon_Products_May19.csv</a:t>
            </a:r>
          </a:p>
          <a:p>
            <a:pPr algn="l">
              <a:lnSpc>
                <a:spcPts val="3359"/>
              </a:lnSpc>
              <a:spcBef>
                <a:spcPct val="0"/>
              </a:spcBef>
            </a:pPr>
          </a:p>
        </p:txBody>
      </p:sp>
      <p:sp>
        <p:nvSpPr>
          <p:cNvPr name="TextBox 21" id="21"/>
          <p:cNvSpPr txBox="true"/>
          <p:nvPr/>
        </p:nvSpPr>
        <p:spPr>
          <a:xfrm rot="0">
            <a:off x="8181555" y="7717595"/>
            <a:ext cx="2688275" cy="1234565"/>
          </a:xfrm>
          <a:prstGeom prst="rect">
            <a:avLst/>
          </a:prstGeom>
        </p:spPr>
        <p:txBody>
          <a:bodyPr anchor="t" rtlCol="false" tIns="0" lIns="0" bIns="0" rIns="0">
            <a:spAutoFit/>
          </a:bodyPr>
          <a:lstStyle/>
          <a:p>
            <a:pPr algn="l" marL="518155" indent="-259078" lvl="1">
              <a:lnSpc>
                <a:spcPts val="3359"/>
              </a:lnSpc>
              <a:buFont typeface="Arial"/>
              <a:buChar char="•"/>
            </a:pPr>
            <a:r>
              <a:rPr lang="en-US" b="true" sz="2399">
                <a:solidFill>
                  <a:srgbClr val="FFFFFF"/>
                </a:solidFill>
                <a:latin typeface="Open Sans Bold"/>
                <a:ea typeface="Open Sans Bold"/>
                <a:cs typeface="Open Sans Bold"/>
                <a:sym typeface="Open Sans Bold"/>
              </a:rPr>
              <a:t>24 columns</a:t>
            </a:r>
          </a:p>
          <a:p>
            <a:pPr algn="l" marL="518155" indent="-259078" lvl="1">
              <a:lnSpc>
                <a:spcPts val="3359"/>
              </a:lnSpc>
              <a:buFont typeface="Arial"/>
              <a:buChar char="•"/>
            </a:pPr>
            <a:r>
              <a:rPr lang="en-US" b="true" sz="2399">
                <a:solidFill>
                  <a:srgbClr val="FFFFFF"/>
                </a:solidFill>
                <a:latin typeface="Open Sans Bold"/>
                <a:ea typeface="Open Sans Bold"/>
                <a:cs typeface="Open Sans Bold"/>
                <a:sym typeface="Open Sans Bold"/>
              </a:rPr>
              <a:t>33,333 rows</a:t>
            </a:r>
          </a:p>
          <a:p>
            <a:pPr algn="l">
              <a:lnSpc>
                <a:spcPts val="335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95202" y="7060732"/>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10" id="10"/>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sp>
        <p:nvSpPr>
          <p:cNvPr name="Freeform 11" id="11"/>
          <p:cNvSpPr/>
          <p:nvPr/>
        </p:nvSpPr>
        <p:spPr>
          <a:xfrm flipH="false" flipV="false" rot="0">
            <a:off x="9248027" y="3858164"/>
            <a:ext cx="8011273" cy="4969017"/>
          </a:xfrm>
          <a:custGeom>
            <a:avLst/>
            <a:gdLst/>
            <a:ahLst/>
            <a:cxnLst/>
            <a:rect r="r" b="b" t="t" l="l"/>
            <a:pathLst>
              <a:path h="4969017" w="8011273">
                <a:moveTo>
                  <a:pt x="0" y="0"/>
                </a:moveTo>
                <a:lnTo>
                  <a:pt x="8011273" y="0"/>
                </a:lnTo>
                <a:lnTo>
                  <a:pt x="8011273" y="4969017"/>
                </a:lnTo>
                <a:lnTo>
                  <a:pt x="0" y="4969017"/>
                </a:lnTo>
                <a:lnTo>
                  <a:pt x="0" y="0"/>
                </a:lnTo>
                <a:close/>
              </a:path>
            </a:pathLst>
          </a:custGeom>
          <a:blipFill>
            <a:blip r:embed="rId3"/>
            <a:stretch>
              <a:fillRect l="0" t="0" r="0" b="0"/>
            </a:stretch>
          </a:blipFill>
        </p:spPr>
      </p:sp>
      <p:sp>
        <p:nvSpPr>
          <p:cNvPr name="TextBox 12" id="12"/>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3" id="13"/>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4" id="14"/>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5" id="15"/>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6" id="16"/>
          <p:cNvSpPr txBox="true"/>
          <p:nvPr/>
        </p:nvSpPr>
        <p:spPr>
          <a:xfrm rot="0">
            <a:off x="4046103" y="1375702"/>
            <a:ext cx="9135516" cy="1311837"/>
          </a:xfrm>
          <a:prstGeom prst="rect">
            <a:avLst/>
          </a:prstGeom>
        </p:spPr>
        <p:txBody>
          <a:bodyPr anchor="t" rtlCol="false" tIns="0" lIns="0" bIns="0" rIns="0">
            <a:spAutoFit/>
          </a:bodyPr>
          <a:lstStyle/>
          <a:p>
            <a:pPr algn="l">
              <a:lnSpc>
                <a:spcPts val="10606"/>
              </a:lnSpc>
              <a:spcBef>
                <a:spcPct val="0"/>
              </a:spcBef>
            </a:pPr>
            <a:r>
              <a:rPr lang="en-US" sz="7575">
                <a:solidFill>
                  <a:srgbClr val="C101FB"/>
                </a:solidFill>
                <a:latin typeface="Bebas Neue Cyrillic"/>
                <a:ea typeface="Bebas Neue Cyrillic"/>
                <a:cs typeface="Bebas Neue Cyrillic"/>
                <a:sym typeface="Bebas Neue Cyrillic"/>
              </a:rPr>
              <a:t>Exploratory Data Analysis</a:t>
            </a:r>
          </a:p>
        </p:txBody>
      </p:sp>
      <p:sp>
        <p:nvSpPr>
          <p:cNvPr name="TextBox 17" id="17"/>
          <p:cNvSpPr txBox="true"/>
          <p:nvPr/>
        </p:nvSpPr>
        <p:spPr>
          <a:xfrm rot="0">
            <a:off x="544794" y="3810539"/>
            <a:ext cx="8069067" cy="4272257"/>
          </a:xfrm>
          <a:prstGeom prst="rect">
            <a:avLst/>
          </a:prstGeom>
        </p:spPr>
        <p:txBody>
          <a:bodyPr anchor="t" rtlCol="false" tIns="0" lIns="0" bIns="0" rIns="0">
            <a:spAutoFit/>
          </a:bodyPr>
          <a:lstStyle/>
          <a:p>
            <a:pPr algn="l">
              <a:lnSpc>
                <a:spcPts val="3005"/>
              </a:lnSpc>
            </a:pPr>
            <a:r>
              <a:rPr lang="en-US" sz="2146" b="true">
                <a:solidFill>
                  <a:srgbClr val="FFFFFF"/>
                </a:solidFill>
                <a:latin typeface="Open Sans Bold"/>
                <a:ea typeface="Open Sans Bold"/>
                <a:cs typeface="Open Sans Bold"/>
                <a:sym typeface="Open Sans Bold"/>
              </a:rPr>
              <a:t>The dataset was grouped based on the reviews.rating column:</a:t>
            </a:r>
          </a:p>
          <a:p>
            <a:pPr algn="l" marL="463441" indent="-231720" lvl="1">
              <a:lnSpc>
                <a:spcPts val="3005"/>
              </a:lnSpc>
              <a:buFont typeface="Arial"/>
              <a:buChar char="•"/>
            </a:pPr>
            <a:r>
              <a:rPr lang="en-US" sz="2146">
                <a:solidFill>
                  <a:srgbClr val="FFFFFF"/>
                </a:solidFill>
                <a:latin typeface="Open Sans"/>
                <a:ea typeface="Open Sans"/>
                <a:cs typeface="Open Sans"/>
                <a:sym typeface="Open Sans"/>
              </a:rPr>
              <a:t>Rating 1: 1,028 reviews</a:t>
            </a:r>
          </a:p>
          <a:p>
            <a:pPr algn="l" marL="463441" indent="-231720" lvl="1">
              <a:lnSpc>
                <a:spcPts val="3005"/>
              </a:lnSpc>
              <a:buFont typeface="Arial"/>
              <a:buChar char="•"/>
            </a:pPr>
            <a:r>
              <a:rPr lang="en-US" sz="2146">
                <a:solidFill>
                  <a:srgbClr val="FFFFFF"/>
                </a:solidFill>
                <a:latin typeface="Open Sans"/>
                <a:ea typeface="Open Sans"/>
                <a:cs typeface="Open Sans"/>
                <a:sym typeface="Open Sans"/>
              </a:rPr>
              <a:t>Rating 2: 670 reviews</a:t>
            </a:r>
          </a:p>
          <a:p>
            <a:pPr algn="l" marL="463441" indent="-231720" lvl="1">
              <a:lnSpc>
                <a:spcPts val="3005"/>
              </a:lnSpc>
              <a:buFont typeface="Arial"/>
              <a:buChar char="•"/>
            </a:pPr>
            <a:r>
              <a:rPr lang="en-US" sz="2146">
                <a:solidFill>
                  <a:srgbClr val="FFFFFF"/>
                </a:solidFill>
                <a:latin typeface="Open Sans"/>
                <a:ea typeface="Open Sans"/>
                <a:cs typeface="Open Sans"/>
                <a:sym typeface="Open Sans"/>
              </a:rPr>
              <a:t>Rating 3: 1,403 reviews</a:t>
            </a:r>
          </a:p>
          <a:p>
            <a:pPr algn="l" marL="463441" indent="-231720" lvl="1">
              <a:lnSpc>
                <a:spcPts val="3005"/>
              </a:lnSpc>
              <a:buFont typeface="Arial"/>
              <a:buChar char="•"/>
            </a:pPr>
            <a:r>
              <a:rPr lang="en-US" sz="2146">
                <a:solidFill>
                  <a:srgbClr val="FFFFFF"/>
                </a:solidFill>
                <a:latin typeface="Open Sans"/>
                <a:ea typeface="Open Sans"/>
                <a:cs typeface="Open Sans"/>
                <a:sym typeface="Open Sans"/>
              </a:rPr>
              <a:t>Rating 4: 6,856 reviews</a:t>
            </a:r>
          </a:p>
          <a:p>
            <a:pPr algn="l" marL="463441" indent="-231720" lvl="1">
              <a:lnSpc>
                <a:spcPts val="3005"/>
              </a:lnSpc>
              <a:buFont typeface="Arial"/>
              <a:buChar char="•"/>
            </a:pPr>
            <a:r>
              <a:rPr lang="en-US" sz="2146">
                <a:solidFill>
                  <a:srgbClr val="FFFFFF"/>
                </a:solidFill>
                <a:latin typeface="Open Sans"/>
                <a:ea typeface="Open Sans"/>
                <a:cs typeface="Open Sans"/>
                <a:sym typeface="Open Sans"/>
              </a:rPr>
              <a:t>Rating 5: 23,375 reviews</a:t>
            </a:r>
          </a:p>
          <a:p>
            <a:pPr algn="l" marL="463441" indent="-231720" lvl="1">
              <a:lnSpc>
                <a:spcPts val="3005"/>
              </a:lnSpc>
              <a:buFont typeface="Arial"/>
              <a:buChar char="•"/>
            </a:pPr>
          </a:p>
          <a:p>
            <a:pPr algn="l">
              <a:lnSpc>
                <a:spcPts val="3005"/>
              </a:lnSpc>
            </a:pPr>
            <a:r>
              <a:rPr lang="en-US" sz="2146" b="true">
                <a:solidFill>
                  <a:srgbClr val="FFFFFF"/>
                </a:solidFill>
                <a:latin typeface="Open Sans Bold"/>
                <a:ea typeface="Open Sans Bold"/>
                <a:cs typeface="Open Sans Bold"/>
                <a:sym typeface="Open Sans Bold"/>
              </a:rPr>
              <a:t>The data is highly imbalanced, with the majority of reviews having a rating of 5.</a:t>
            </a:r>
          </a:p>
          <a:p>
            <a:pPr algn="l">
              <a:lnSpc>
                <a:spcPts val="3768"/>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grpSp>
        <p:nvGrpSpPr>
          <p:cNvPr name="Group 10" id="10"/>
          <p:cNvGrpSpPr/>
          <p:nvPr/>
        </p:nvGrpSpPr>
        <p:grpSpPr>
          <a:xfrm rot="0">
            <a:off x="12558845" y="1603480"/>
            <a:ext cx="4706594" cy="8545015"/>
            <a:chOff x="0" y="0"/>
            <a:chExt cx="3497580" cy="6350000"/>
          </a:xfrm>
        </p:grpSpPr>
        <p:sp>
          <p:nvSpPr>
            <p:cNvPr name="Freeform 11" id="11"/>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blipFill>
              <a:blip r:embed="rId3"/>
              <a:stretch>
                <a:fillRect l="-948" t="0" r="-948" b="0"/>
              </a:stretch>
            </a:blipFill>
          </p:spPr>
        </p:sp>
      </p:grpSp>
      <p:grpSp>
        <p:nvGrpSpPr>
          <p:cNvPr name="Group 12" id="12"/>
          <p:cNvGrpSpPr/>
          <p:nvPr/>
        </p:nvGrpSpPr>
        <p:grpSpPr>
          <a:xfrm rot="0">
            <a:off x="9165242" y="1028700"/>
            <a:ext cx="3695804" cy="6709884"/>
            <a:chOff x="0" y="0"/>
            <a:chExt cx="3497580" cy="6350000"/>
          </a:xfrm>
        </p:grpSpPr>
        <p:sp>
          <p:nvSpPr>
            <p:cNvPr name="Freeform 13" id="13"/>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blipFill>
              <a:blip r:embed="rId3"/>
              <a:stretch>
                <a:fillRect l="-835" t="0" r="-835" b="0"/>
              </a:stretch>
            </a:blipFill>
          </p:spPr>
        </p:sp>
      </p:grpSp>
      <p:grpSp>
        <p:nvGrpSpPr>
          <p:cNvPr name="Group 14" id="14"/>
          <p:cNvGrpSpPr/>
          <p:nvPr/>
        </p:nvGrpSpPr>
        <p:grpSpPr>
          <a:xfrm rot="0">
            <a:off x="11601999" y="7960287"/>
            <a:ext cx="1782636" cy="3236449"/>
            <a:chOff x="0" y="0"/>
            <a:chExt cx="3497580" cy="6350000"/>
          </a:xfrm>
        </p:grpSpPr>
        <p:sp>
          <p:nvSpPr>
            <p:cNvPr name="Freeform 15" id="15"/>
            <p:cNvSpPr/>
            <p:nvPr/>
          </p:nvSpPr>
          <p:spPr>
            <a:xfrm flipH="false" flipV="false" rot="0">
              <a:off x="0" y="0"/>
              <a:ext cx="3497580" cy="6350000"/>
            </a:xfrm>
            <a:custGeom>
              <a:avLst/>
              <a:gdLst/>
              <a:ahLst/>
              <a:cxnLst/>
              <a:rect r="r" b="b" t="t" l="l"/>
              <a:pathLst>
                <a:path h="6350000" w="3497580">
                  <a:moveTo>
                    <a:pt x="3497580" y="6350000"/>
                  </a:moveTo>
                  <a:lnTo>
                    <a:pt x="744220" y="6350000"/>
                  </a:lnTo>
                  <a:lnTo>
                    <a:pt x="0" y="0"/>
                  </a:lnTo>
                  <a:lnTo>
                    <a:pt x="2753360" y="0"/>
                  </a:lnTo>
                  <a:lnTo>
                    <a:pt x="3497580" y="6350000"/>
                  </a:lnTo>
                  <a:close/>
                </a:path>
              </a:pathLst>
            </a:custGeom>
            <a:blipFill>
              <a:blip r:embed="rId3"/>
              <a:stretch>
                <a:fillRect l="-910" t="0" r="-910" b="0"/>
              </a:stretch>
            </a:blipFill>
          </p:spPr>
        </p:sp>
      </p:grpSp>
      <p:grpSp>
        <p:nvGrpSpPr>
          <p:cNvPr name="Group 16" id="16"/>
          <p:cNvGrpSpPr/>
          <p:nvPr/>
        </p:nvGrpSpPr>
        <p:grpSpPr>
          <a:xfrm rot="0">
            <a:off x="1610292" y="3005625"/>
            <a:ext cx="677751" cy="67775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18" id="18"/>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9" id="19"/>
          <p:cNvGrpSpPr/>
          <p:nvPr/>
        </p:nvGrpSpPr>
        <p:grpSpPr>
          <a:xfrm rot="0">
            <a:off x="1610292" y="5164374"/>
            <a:ext cx="677751" cy="67775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21" id="21"/>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22" id="22"/>
          <p:cNvGrpSpPr/>
          <p:nvPr/>
        </p:nvGrpSpPr>
        <p:grpSpPr>
          <a:xfrm rot="0">
            <a:off x="1610292" y="7261585"/>
            <a:ext cx="677751" cy="67775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24" id="24"/>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Freeform 25" id="25"/>
          <p:cNvSpPr/>
          <p:nvPr/>
        </p:nvSpPr>
        <p:spPr>
          <a:xfrm flipH="false" flipV="false" rot="0">
            <a:off x="-3420443" y="8783418"/>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sp>
        <p:nvSpPr>
          <p:cNvPr name="TextBox 26" id="26"/>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7" id="27"/>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8" id="28"/>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9" id="29"/>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30" id="30"/>
          <p:cNvSpPr txBox="true"/>
          <p:nvPr/>
        </p:nvSpPr>
        <p:spPr>
          <a:xfrm rot="0">
            <a:off x="1028700" y="1470130"/>
            <a:ext cx="6296053" cy="1193766"/>
          </a:xfrm>
          <a:prstGeom prst="rect">
            <a:avLst/>
          </a:prstGeom>
        </p:spPr>
        <p:txBody>
          <a:bodyPr anchor="t" rtlCol="false" tIns="0" lIns="0" bIns="0" rIns="0">
            <a:spAutoFit/>
          </a:bodyPr>
          <a:lstStyle/>
          <a:p>
            <a:pPr algn="l">
              <a:lnSpc>
                <a:spcPts val="9799"/>
              </a:lnSpc>
              <a:spcBef>
                <a:spcPct val="0"/>
              </a:spcBef>
            </a:pPr>
            <a:r>
              <a:rPr lang="en-US" sz="6999">
                <a:solidFill>
                  <a:srgbClr val="C101FB"/>
                </a:solidFill>
                <a:latin typeface="Bebas Neue Cyrillic"/>
                <a:ea typeface="Bebas Neue Cyrillic"/>
                <a:cs typeface="Bebas Neue Cyrillic"/>
                <a:sym typeface="Bebas Neue Cyrillic"/>
              </a:rPr>
              <a:t>Data preprocessing</a:t>
            </a:r>
          </a:p>
        </p:txBody>
      </p:sp>
      <p:sp>
        <p:nvSpPr>
          <p:cNvPr name="TextBox 31" id="31"/>
          <p:cNvSpPr txBox="true"/>
          <p:nvPr/>
        </p:nvSpPr>
        <p:spPr>
          <a:xfrm rot="0">
            <a:off x="2607413" y="3333325"/>
            <a:ext cx="5673445" cy="1590550"/>
          </a:xfrm>
          <a:prstGeom prst="rect">
            <a:avLst/>
          </a:prstGeom>
        </p:spPr>
        <p:txBody>
          <a:bodyPr anchor="t" rtlCol="false" tIns="0" lIns="0" bIns="0" rIns="0">
            <a:spAutoFit/>
          </a:bodyPr>
          <a:lstStyle/>
          <a:p>
            <a:pPr algn="l" marL="323850" indent="-161925" lvl="1">
              <a:lnSpc>
                <a:spcPts val="2100"/>
              </a:lnSpc>
              <a:buFont typeface="Arial"/>
              <a:buChar char="•"/>
            </a:pPr>
            <a:r>
              <a:rPr lang="en-US" sz="1500">
                <a:solidFill>
                  <a:srgbClr val="FFFFFF"/>
                </a:solidFill>
                <a:latin typeface="Open Sans"/>
                <a:ea typeface="Open Sans"/>
                <a:cs typeface="Open Sans"/>
                <a:sym typeface="Open Sans"/>
              </a:rPr>
              <a:t>Drop columns that are not needed or contain too many missing values.</a:t>
            </a:r>
          </a:p>
          <a:p>
            <a:pPr algn="l" marL="323850" indent="-161925" lvl="1">
              <a:lnSpc>
                <a:spcPts val="2100"/>
              </a:lnSpc>
              <a:buFont typeface="Arial"/>
              <a:buChar char="•"/>
            </a:pPr>
            <a:r>
              <a:rPr lang="en-US" sz="1500">
                <a:solidFill>
                  <a:srgbClr val="FFFFFF"/>
                </a:solidFill>
                <a:latin typeface="Open Sans"/>
                <a:ea typeface="Open Sans"/>
                <a:cs typeface="Open Sans"/>
                <a:sym typeface="Open Sans"/>
              </a:rPr>
              <a:t> Handle missing values in 'reviews.username' and 'reviews.title' by replacing with 'Unknown'</a:t>
            </a:r>
          </a:p>
          <a:p>
            <a:pPr algn="l">
              <a:lnSpc>
                <a:spcPts val="2100"/>
              </a:lnSpc>
            </a:pPr>
          </a:p>
          <a:p>
            <a:pPr algn="l">
              <a:lnSpc>
                <a:spcPts val="2100"/>
              </a:lnSpc>
              <a:spcBef>
                <a:spcPct val="0"/>
              </a:spcBef>
            </a:pPr>
          </a:p>
        </p:txBody>
      </p:sp>
      <p:sp>
        <p:nvSpPr>
          <p:cNvPr name="TextBox 32" id="32"/>
          <p:cNvSpPr txBox="true"/>
          <p:nvPr/>
        </p:nvSpPr>
        <p:spPr>
          <a:xfrm rot="0">
            <a:off x="1701112" y="3181623"/>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33" id="33"/>
          <p:cNvSpPr txBox="true"/>
          <p:nvPr/>
        </p:nvSpPr>
        <p:spPr>
          <a:xfrm rot="0">
            <a:off x="2783208" y="2861484"/>
            <a:ext cx="2358670" cy="323233"/>
          </a:xfrm>
          <a:prstGeom prst="rect">
            <a:avLst/>
          </a:prstGeom>
        </p:spPr>
        <p:txBody>
          <a:bodyPr anchor="t" rtlCol="false" tIns="0" lIns="0" bIns="0" rIns="0">
            <a:spAutoFit/>
          </a:bodyPr>
          <a:lstStyle/>
          <a:p>
            <a:pPr algn="l">
              <a:lnSpc>
                <a:spcPts val="2659"/>
              </a:lnSpc>
              <a:spcBef>
                <a:spcPct val="0"/>
              </a:spcBef>
            </a:pPr>
            <a:r>
              <a:rPr lang="en-US" b="true" sz="1899">
                <a:solidFill>
                  <a:srgbClr val="C101FB"/>
                </a:solidFill>
                <a:latin typeface="Open Sans Bold"/>
                <a:ea typeface="Open Sans Bold"/>
                <a:cs typeface="Open Sans Bold"/>
                <a:sym typeface="Open Sans Bold"/>
              </a:rPr>
              <a:t>Clean The Dataset</a:t>
            </a:r>
          </a:p>
        </p:txBody>
      </p:sp>
      <p:sp>
        <p:nvSpPr>
          <p:cNvPr name="TextBox 34" id="34"/>
          <p:cNvSpPr txBox="true"/>
          <p:nvPr/>
        </p:nvSpPr>
        <p:spPr>
          <a:xfrm rot="0">
            <a:off x="1701112" y="534037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5" id="35"/>
          <p:cNvSpPr txBox="true"/>
          <p:nvPr/>
        </p:nvSpPr>
        <p:spPr>
          <a:xfrm rot="0">
            <a:off x="2607413" y="5126274"/>
            <a:ext cx="5673445" cy="323233"/>
          </a:xfrm>
          <a:prstGeom prst="rect">
            <a:avLst/>
          </a:prstGeom>
        </p:spPr>
        <p:txBody>
          <a:bodyPr anchor="t" rtlCol="false" tIns="0" lIns="0" bIns="0" rIns="0">
            <a:spAutoFit/>
          </a:bodyPr>
          <a:lstStyle/>
          <a:p>
            <a:pPr algn="l">
              <a:lnSpc>
                <a:spcPts val="2659"/>
              </a:lnSpc>
              <a:spcBef>
                <a:spcPct val="0"/>
              </a:spcBef>
            </a:pPr>
            <a:r>
              <a:rPr lang="en-US" b="true" sz="1899">
                <a:solidFill>
                  <a:srgbClr val="C101FB"/>
                </a:solidFill>
                <a:latin typeface="Open Sans Bold"/>
                <a:ea typeface="Open Sans Bold"/>
                <a:cs typeface="Open Sans Bold"/>
                <a:sym typeface="Open Sans Bold"/>
              </a:rPr>
              <a:t>Added a new column called "Sentiment Class"</a:t>
            </a:r>
          </a:p>
        </p:txBody>
      </p:sp>
      <p:sp>
        <p:nvSpPr>
          <p:cNvPr name="TextBox 36" id="36"/>
          <p:cNvSpPr txBox="true"/>
          <p:nvPr/>
        </p:nvSpPr>
        <p:spPr>
          <a:xfrm rot="0">
            <a:off x="2554087" y="7756267"/>
            <a:ext cx="5156632" cy="1323871"/>
          </a:xfrm>
          <a:prstGeom prst="rect">
            <a:avLst/>
          </a:prstGeom>
        </p:spPr>
        <p:txBody>
          <a:bodyPr anchor="t" rtlCol="false" tIns="0" lIns="0" bIns="0" rIns="0">
            <a:spAutoFit/>
          </a:bodyPr>
          <a:lstStyle/>
          <a:p>
            <a:pPr algn="l">
              <a:lnSpc>
                <a:spcPts val="2100"/>
              </a:lnSpc>
            </a:pPr>
            <a:r>
              <a:rPr lang="en-US" sz="1500">
                <a:solidFill>
                  <a:srgbClr val="FFFFFF"/>
                </a:solidFill>
                <a:latin typeface="Open Sans"/>
                <a:ea typeface="Open Sans"/>
                <a:cs typeface="Open Sans"/>
                <a:sym typeface="Open Sans"/>
              </a:rPr>
              <a:t>A function named label_mapping was defined to convert sentiment classes into numeric labels:</a:t>
            </a:r>
          </a:p>
          <a:p>
            <a:pPr algn="l" marL="323850" indent="-161925" lvl="1">
              <a:lnSpc>
                <a:spcPts val="2100"/>
              </a:lnSpc>
              <a:buFont typeface="Arial"/>
              <a:buChar char="•"/>
            </a:pPr>
            <a:r>
              <a:rPr lang="en-US" sz="1500">
                <a:solidFill>
                  <a:srgbClr val="FFFFFF"/>
                </a:solidFill>
                <a:latin typeface="Open Sans"/>
                <a:ea typeface="Open Sans"/>
                <a:cs typeface="Open Sans"/>
                <a:sym typeface="Open Sans"/>
              </a:rPr>
              <a:t>'Positive' → 2</a:t>
            </a:r>
          </a:p>
          <a:p>
            <a:pPr algn="l" marL="323850" indent="-161925" lvl="1">
              <a:lnSpc>
                <a:spcPts val="2100"/>
              </a:lnSpc>
              <a:buFont typeface="Arial"/>
              <a:buChar char="•"/>
            </a:pPr>
            <a:r>
              <a:rPr lang="en-US" sz="1500">
                <a:solidFill>
                  <a:srgbClr val="FFFFFF"/>
                </a:solidFill>
                <a:latin typeface="Open Sans"/>
                <a:ea typeface="Open Sans"/>
                <a:cs typeface="Open Sans"/>
                <a:sym typeface="Open Sans"/>
              </a:rPr>
              <a:t>'Neutral' → 1</a:t>
            </a:r>
          </a:p>
          <a:p>
            <a:pPr algn="l" marL="323850" indent="-161925" lvl="1">
              <a:lnSpc>
                <a:spcPts val="2100"/>
              </a:lnSpc>
              <a:spcBef>
                <a:spcPct val="0"/>
              </a:spcBef>
              <a:buFont typeface="Arial"/>
              <a:buChar char="•"/>
            </a:pPr>
            <a:r>
              <a:rPr lang="en-US" sz="1500">
                <a:solidFill>
                  <a:srgbClr val="FFFFFF"/>
                </a:solidFill>
                <a:latin typeface="Open Sans"/>
                <a:ea typeface="Open Sans"/>
                <a:cs typeface="Open Sans"/>
                <a:sym typeface="Open Sans"/>
              </a:rPr>
              <a:t>'Negative' → 0</a:t>
            </a:r>
          </a:p>
        </p:txBody>
      </p:sp>
      <p:sp>
        <p:nvSpPr>
          <p:cNvPr name="TextBox 37" id="37"/>
          <p:cNvSpPr txBox="true"/>
          <p:nvPr/>
        </p:nvSpPr>
        <p:spPr>
          <a:xfrm rot="0">
            <a:off x="1701112" y="7437582"/>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8" id="38"/>
          <p:cNvSpPr txBox="true"/>
          <p:nvPr/>
        </p:nvSpPr>
        <p:spPr>
          <a:xfrm rot="0">
            <a:off x="2607413" y="7223485"/>
            <a:ext cx="2836723" cy="323233"/>
          </a:xfrm>
          <a:prstGeom prst="rect">
            <a:avLst/>
          </a:prstGeom>
        </p:spPr>
        <p:txBody>
          <a:bodyPr anchor="t" rtlCol="false" tIns="0" lIns="0" bIns="0" rIns="0">
            <a:spAutoFit/>
          </a:bodyPr>
          <a:lstStyle/>
          <a:p>
            <a:pPr algn="l">
              <a:lnSpc>
                <a:spcPts val="2659"/>
              </a:lnSpc>
              <a:spcBef>
                <a:spcPct val="0"/>
              </a:spcBef>
            </a:pPr>
            <a:r>
              <a:rPr lang="en-US" b="true" sz="1899">
                <a:solidFill>
                  <a:srgbClr val="C101FB"/>
                </a:solidFill>
                <a:latin typeface="Open Sans Bold"/>
                <a:ea typeface="Open Sans Bold"/>
                <a:cs typeface="Open Sans Bold"/>
                <a:sym typeface="Open Sans Bold"/>
              </a:rPr>
              <a:t>Add label column</a:t>
            </a:r>
          </a:p>
        </p:txBody>
      </p:sp>
      <p:sp>
        <p:nvSpPr>
          <p:cNvPr name="TextBox 39" id="39"/>
          <p:cNvSpPr txBox="true"/>
          <p:nvPr/>
        </p:nvSpPr>
        <p:spPr>
          <a:xfrm rot="0">
            <a:off x="2783208" y="5659056"/>
            <a:ext cx="4717340" cy="1057192"/>
          </a:xfrm>
          <a:prstGeom prst="rect">
            <a:avLst/>
          </a:prstGeom>
        </p:spPr>
        <p:txBody>
          <a:bodyPr anchor="t" rtlCol="false" tIns="0" lIns="0" bIns="0" rIns="0">
            <a:spAutoFit/>
          </a:bodyPr>
          <a:lstStyle/>
          <a:p>
            <a:pPr algn="l">
              <a:lnSpc>
                <a:spcPts val="2100"/>
              </a:lnSpc>
            </a:pPr>
            <a:r>
              <a:rPr lang="en-US" sz="1500">
                <a:solidFill>
                  <a:srgbClr val="FFFFFF"/>
                </a:solidFill>
                <a:latin typeface="Open Sans"/>
                <a:ea typeface="Open Sans"/>
                <a:cs typeface="Open Sans"/>
                <a:sym typeface="Open Sans"/>
              </a:rPr>
              <a:t>by mapping star ratings to sentiment labels:</a:t>
            </a:r>
            <a:r>
              <a:rPr lang="en-US" sz="1500">
                <a:solidFill>
                  <a:srgbClr val="FFFFFF"/>
                </a:solidFill>
                <a:latin typeface="Open Sans"/>
                <a:ea typeface="Open Sans"/>
                <a:cs typeface="Open Sans"/>
                <a:sym typeface="Open Sans"/>
              </a:rPr>
              <a:t> </a:t>
            </a:r>
          </a:p>
          <a:p>
            <a:pPr algn="l" marL="323850" indent="-161925" lvl="1">
              <a:lnSpc>
                <a:spcPts val="2100"/>
              </a:lnSpc>
              <a:buFont typeface="Arial"/>
              <a:buChar char="•"/>
            </a:pPr>
            <a:r>
              <a:rPr lang="en-US" sz="1500">
                <a:solidFill>
                  <a:srgbClr val="FFFFFF"/>
                </a:solidFill>
                <a:latin typeface="Open Sans"/>
                <a:ea typeface="Open Sans"/>
                <a:cs typeface="Open Sans"/>
                <a:sym typeface="Open Sans"/>
              </a:rPr>
              <a:t>ratings 1–2 as Negative,</a:t>
            </a:r>
            <a:r>
              <a:rPr lang="en-US" sz="1500">
                <a:solidFill>
                  <a:srgbClr val="FFFFFF"/>
                </a:solidFill>
                <a:latin typeface="Open Sans"/>
                <a:ea typeface="Open Sans"/>
                <a:cs typeface="Open Sans"/>
                <a:sym typeface="Open Sans"/>
              </a:rPr>
              <a:t> </a:t>
            </a:r>
          </a:p>
          <a:p>
            <a:pPr algn="l" marL="323850" indent="-161925" lvl="1">
              <a:lnSpc>
                <a:spcPts val="2100"/>
              </a:lnSpc>
              <a:buFont typeface="Arial"/>
              <a:buChar char="•"/>
            </a:pPr>
            <a:r>
              <a:rPr lang="en-US" sz="1500">
                <a:solidFill>
                  <a:srgbClr val="FFFFFF"/>
                </a:solidFill>
                <a:latin typeface="Open Sans"/>
                <a:ea typeface="Open Sans"/>
                <a:cs typeface="Open Sans"/>
                <a:sym typeface="Open Sans"/>
              </a:rPr>
              <a:t>3 as Neutral,</a:t>
            </a:r>
          </a:p>
          <a:p>
            <a:pPr algn="l" marL="323850" indent="-161925" lvl="1">
              <a:lnSpc>
                <a:spcPts val="2100"/>
              </a:lnSpc>
              <a:spcBef>
                <a:spcPct val="0"/>
              </a:spcBef>
              <a:buFont typeface="Arial"/>
              <a:buChar char="•"/>
            </a:pPr>
            <a:r>
              <a:rPr lang="en-US" sz="1500">
                <a:solidFill>
                  <a:srgbClr val="FFFFFF"/>
                </a:solidFill>
                <a:latin typeface="Open Sans"/>
                <a:ea typeface="Open Sans"/>
                <a:cs typeface="Open Sans"/>
                <a:sym typeface="Open Sans"/>
              </a:rPr>
              <a:t> and 4–5 as Positive.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078890" y="7273429"/>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10" id="10"/>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grpSp>
        <p:nvGrpSpPr>
          <p:cNvPr name="Group 11" id="11"/>
          <p:cNvGrpSpPr/>
          <p:nvPr/>
        </p:nvGrpSpPr>
        <p:grpSpPr>
          <a:xfrm rot="0">
            <a:off x="9144000" y="1684165"/>
            <a:ext cx="8115300" cy="6918669"/>
            <a:chOff x="0" y="0"/>
            <a:chExt cx="6968039" cy="5940576"/>
          </a:xfrm>
        </p:grpSpPr>
        <p:sp>
          <p:nvSpPr>
            <p:cNvPr name="Freeform 12" id="12"/>
            <p:cNvSpPr/>
            <p:nvPr/>
          </p:nvSpPr>
          <p:spPr>
            <a:xfrm flipH="false" flipV="false" rot="0">
              <a:off x="0" y="0"/>
              <a:ext cx="6968039" cy="5940576"/>
            </a:xfrm>
            <a:custGeom>
              <a:avLst/>
              <a:gdLst/>
              <a:ahLst/>
              <a:cxnLst/>
              <a:rect r="r" b="b" t="t" l="l"/>
              <a:pathLst>
                <a:path h="5940576" w="6968039">
                  <a:moveTo>
                    <a:pt x="3167671" y="0"/>
                  </a:moveTo>
                  <a:lnTo>
                    <a:pt x="5127083" y="0"/>
                  </a:lnTo>
                  <a:lnTo>
                    <a:pt x="6968039" y="0"/>
                  </a:lnTo>
                  <a:lnTo>
                    <a:pt x="6968039" y="5136664"/>
                  </a:lnTo>
                  <a:lnTo>
                    <a:pt x="3235957" y="5940576"/>
                  </a:lnTo>
                  <a:lnTo>
                    <a:pt x="0" y="5940576"/>
                  </a:lnTo>
                  <a:lnTo>
                    <a:pt x="0" y="3711395"/>
                  </a:lnTo>
                  <a:close/>
                </a:path>
              </a:pathLst>
            </a:custGeom>
            <a:gradFill rotWithShape="true">
              <a:gsLst>
                <a:gs pos="0">
                  <a:srgbClr val="003A89">
                    <a:alpha val="100000"/>
                  </a:srgbClr>
                </a:gs>
                <a:gs pos="100000">
                  <a:srgbClr val="C700FF">
                    <a:alpha val="100000"/>
                  </a:srgbClr>
                </a:gs>
              </a:gsLst>
              <a:lin ang="2700000"/>
            </a:gradFill>
            <a:ln w="12700">
              <a:solidFill>
                <a:srgbClr val="000000"/>
              </a:solidFill>
            </a:ln>
          </p:spPr>
        </p:sp>
      </p:grpSp>
      <p:grpSp>
        <p:nvGrpSpPr>
          <p:cNvPr name="Group 13" id="13"/>
          <p:cNvGrpSpPr/>
          <p:nvPr/>
        </p:nvGrpSpPr>
        <p:grpSpPr>
          <a:xfrm rot="0">
            <a:off x="9827860" y="2052496"/>
            <a:ext cx="7431440" cy="6269483"/>
            <a:chOff x="0" y="0"/>
            <a:chExt cx="6768047" cy="5709816"/>
          </a:xfrm>
        </p:grpSpPr>
        <p:sp>
          <p:nvSpPr>
            <p:cNvPr name="Freeform 14" id="14"/>
            <p:cNvSpPr/>
            <p:nvPr/>
          </p:nvSpPr>
          <p:spPr>
            <a:xfrm flipH="false" flipV="false" rot="0">
              <a:off x="0" y="0"/>
              <a:ext cx="6768047" cy="5709816"/>
            </a:xfrm>
            <a:custGeom>
              <a:avLst/>
              <a:gdLst/>
              <a:ahLst/>
              <a:cxnLst/>
              <a:rect r="r" b="b" t="t" l="l"/>
              <a:pathLst>
                <a:path h="5709816" w="6768047">
                  <a:moveTo>
                    <a:pt x="3076754" y="0"/>
                  </a:moveTo>
                  <a:lnTo>
                    <a:pt x="4979929" y="0"/>
                  </a:lnTo>
                  <a:lnTo>
                    <a:pt x="6768047" y="0"/>
                  </a:lnTo>
                  <a:lnTo>
                    <a:pt x="6768047" y="4937132"/>
                  </a:lnTo>
                  <a:lnTo>
                    <a:pt x="3143081" y="5709816"/>
                  </a:lnTo>
                  <a:lnTo>
                    <a:pt x="0" y="5709816"/>
                  </a:lnTo>
                  <a:lnTo>
                    <a:pt x="0" y="3567226"/>
                  </a:lnTo>
                  <a:close/>
                </a:path>
              </a:pathLst>
            </a:custGeom>
            <a:blipFill>
              <a:blip r:embed="rId3"/>
              <a:stretch>
                <a:fillRect l="0" t="-68533" r="0" b="-68533"/>
              </a:stretch>
            </a:blipFill>
          </p:spPr>
        </p:sp>
      </p:grpSp>
      <p:grpSp>
        <p:nvGrpSpPr>
          <p:cNvPr name="Group 15" id="15"/>
          <p:cNvGrpSpPr/>
          <p:nvPr/>
        </p:nvGrpSpPr>
        <p:grpSpPr>
          <a:xfrm rot="0">
            <a:off x="880981" y="3624217"/>
            <a:ext cx="677751" cy="67775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17" id="1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8" id="18"/>
          <p:cNvGrpSpPr/>
          <p:nvPr/>
        </p:nvGrpSpPr>
        <p:grpSpPr>
          <a:xfrm rot="0">
            <a:off x="817555" y="5745998"/>
            <a:ext cx="677751" cy="67775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20" id="20"/>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21" id="21"/>
          <p:cNvGrpSpPr/>
          <p:nvPr/>
        </p:nvGrpSpPr>
        <p:grpSpPr>
          <a:xfrm rot="0">
            <a:off x="759772" y="7969812"/>
            <a:ext cx="677751" cy="67775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23" id="2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4" id="24"/>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5" id="25"/>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6" id="26"/>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7" id="27"/>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8" id="28"/>
          <p:cNvSpPr txBox="true"/>
          <p:nvPr/>
        </p:nvSpPr>
        <p:spPr>
          <a:xfrm rot="0">
            <a:off x="447834" y="1606141"/>
            <a:ext cx="11045667" cy="929639"/>
          </a:xfrm>
          <a:prstGeom prst="rect">
            <a:avLst/>
          </a:prstGeom>
        </p:spPr>
        <p:txBody>
          <a:bodyPr anchor="t" rtlCol="false" tIns="0" lIns="0" bIns="0" rIns="0">
            <a:spAutoFit/>
          </a:bodyPr>
          <a:lstStyle/>
          <a:p>
            <a:pPr algn="l">
              <a:lnSpc>
                <a:spcPts val="7560"/>
              </a:lnSpc>
              <a:spcBef>
                <a:spcPct val="0"/>
              </a:spcBef>
            </a:pPr>
            <a:r>
              <a:rPr lang="en-US" sz="5400">
                <a:solidFill>
                  <a:srgbClr val="C101FB"/>
                </a:solidFill>
                <a:latin typeface="Bebas Neue Cyrillic"/>
                <a:ea typeface="Bebas Neue Cyrillic"/>
                <a:cs typeface="Bebas Neue Cyrillic"/>
                <a:sym typeface="Bebas Neue Cyrillic"/>
              </a:rPr>
              <a:t>Task 1. Classification with pre-trained models.</a:t>
            </a:r>
          </a:p>
        </p:txBody>
      </p:sp>
      <p:sp>
        <p:nvSpPr>
          <p:cNvPr name="TextBox 29" id="29"/>
          <p:cNvSpPr txBox="true"/>
          <p:nvPr/>
        </p:nvSpPr>
        <p:spPr>
          <a:xfrm rot="0">
            <a:off x="1911158" y="3913350"/>
            <a:ext cx="6454212" cy="570020"/>
          </a:xfrm>
          <a:prstGeom prst="rect">
            <a:avLst/>
          </a:prstGeom>
        </p:spPr>
        <p:txBody>
          <a:bodyPr anchor="t" rtlCol="false" tIns="0" lIns="0" bIns="0" rIns="0">
            <a:spAutoFit/>
          </a:bodyPr>
          <a:lstStyle/>
          <a:p>
            <a:pPr algn="l">
              <a:lnSpc>
                <a:spcPts val="2366"/>
              </a:lnSpc>
            </a:pPr>
            <a:r>
              <a:rPr lang="en-US" sz="1400" b="true">
                <a:solidFill>
                  <a:srgbClr val="FFFFFF"/>
                </a:solidFill>
                <a:latin typeface="Open Sans Bold"/>
                <a:ea typeface="Open Sans Bold"/>
                <a:cs typeface="Open Sans Bold"/>
                <a:sym typeface="Open Sans Bold"/>
              </a:rPr>
              <a:t>Chose DistilBERT (distilbert-base-uncased) for sequence classification with 3 output labels.</a:t>
            </a:r>
          </a:p>
        </p:txBody>
      </p:sp>
      <p:sp>
        <p:nvSpPr>
          <p:cNvPr name="TextBox 30" id="30"/>
          <p:cNvSpPr txBox="true"/>
          <p:nvPr/>
        </p:nvSpPr>
        <p:spPr>
          <a:xfrm rot="0">
            <a:off x="971801" y="393451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31" id="31"/>
          <p:cNvSpPr txBox="true"/>
          <p:nvPr/>
        </p:nvSpPr>
        <p:spPr>
          <a:xfrm rot="0">
            <a:off x="1635045" y="5840514"/>
            <a:ext cx="7369215" cy="1594106"/>
          </a:xfrm>
          <a:prstGeom prst="rect">
            <a:avLst/>
          </a:prstGeom>
        </p:spPr>
        <p:txBody>
          <a:bodyPr anchor="t" rtlCol="false" tIns="0" lIns="0" bIns="0" rIns="0">
            <a:spAutoFit/>
          </a:bodyPr>
          <a:lstStyle/>
          <a:p>
            <a:pPr algn="l" marL="280671" indent="-140336" lvl="1">
              <a:lnSpc>
                <a:spcPts val="2132"/>
              </a:lnSpc>
              <a:buFont typeface="Arial"/>
              <a:buChar char="•"/>
            </a:pPr>
            <a:r>
              <a:rPr lang="en-US" b="true" sz="1300">
                <a:solidFill>
                  <a:srgbClr val="FFFFFF"/>
                </a:solidFill>
                <a:latin typeface="Open Sans Bold"/>
                <a:ea typeface="Open Sans Bold"/>
                <a:cs typeface="Open Sans Bold"/>
                <a:sym typeface="Open Sans Bold"/>
              </a:rPr>
              <a:t>Used GPU for faster training, applied AdamW optimizer and CrossEntropyLoss with class weights.</a:t>
            </a:r>
          </a:p>
          <a:p>
            <a:pPr algn="l" marL="280671" indent="-140336" lvl="1">
              <a:lnSpc>
                <a:spcPts val="2132"/>
              </a:lnSpc>
              <a:buFont typeface="Arial"/>
              <a:buChar char="•"/>
            </a:pPr>
            <a:r>
              <a:rPr lang="en-US" b="true" sz="1300">
                <a:solidFill>
                  <a:srgbClr val="FFFFFF"/>
                </a:solidFill>
                <a:latin typeface="Open Sans Bold"/>
                <a:ea typeface="Open Sans Bold"/>
                <a:cs typeface="Open Sans Bold"/>
                <a:sym typeface="Open Sans Bold"/>
              </a:rPr>
              <a:t>Class weights were computed using compute_class_weight to address class imbalance (higher weight for underrepresented classes).</a:t>
            </a:r>
          </a:p>
          <a:p>
            <a:pPr algn="l" marL="280671" indent="-140336" lvl="1">
              <a:lnSpc>
                <a:spcPts val="2132"/>
              </a:lnSpc>
              <a:buFont typeface="Arial"/>
              <a:buChar char="•"/>
            </a:pPr>
            <a:r>
              <a:rPr lang="en-US" b="true" sz="1300">
                <a:solidFill>
                  <a:srgbClr val="FFFFFF"/>
                </a:solidFill>
                <a:latin typeface="Open Sans Bold"/>
                <a:ea typeface="Open Sans Bold"/>
                <a:cs typeface="Open Sans Bold"/>
                <a:sym typeface="Open Sans Bold"/>
              </a:rPr>
              <a:t>Trained for 3 epochs to adjust the model's weights.</a:t>
            </a:r>
          </a:p>
          <a:p>
            <a:pPr algn="l">
              <a:lnSpc>
                <a:spcPts val="2132"/>
              </a:lnSpc>
            </a:pPr>
          </a:p>
        </p:txBody>
      </p:sp>
      <p:sp>
        <p:nvSpPr>
          <p:cNvPr name="TextBox 32" id="32"/>
          <p:cNvSpPr txBox="true"/>
          <p:nvPr/>
        </p:nvSpPr>
        <p:spPr>
          <a:xfrm rot="0">
            <a:off x="908375" y="5921996"/>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3" id="33"/>
          <p:cNvSpPr txBox="true"/>
          <p:nvPr/>
        </p:nvSpPr>
        <p:spPr>
          <a:xfrm rot="0">
            <a:off x="880981" y="815910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4" id="34"/>
          <p:cNvSpPr txBox="true"/>
          <p:nvPr/>
        </p:nvSpPr>
        <p:spPr>
          <a:xfrm rot="0">
            <a:off x="1838211" y="3535906"/>
            <a:ext cx="2420849" cy="356225"/>
          </a:xfrm>
          <a:prstGeom prst="rect">
            <a:avLst/>
          </a:prstGeom>
        </p:spPr>
        <p:txBody>
          <a:bodyPr anchor="t" rtlCol="false" tIns="0" lIns="0" bIns="0" rIns="0">
            <a:spAutoFit/>
          </a:bodyPr>
          <a:lstStyle/>
          <a:p>
            <a:pPr algn="l">
              <a:lnSpc>
                <a:spcPts val="2939"/>
              </a:lnSpc>
              <a:spcBef>
                <a:spcPct val="0"/>
              </a:spcBef>
            </a:pPr>
            <a:r>
              <a:rPr lang="en-US" b="true" sz="2099">
                <a:solidFill>
                  <a:srgbClr val="C101FB"/>
                </a:solidFill>
                <a:latin typeface="Open Sans Bold"/>
                <a:ea typeface="Open Sans Bold"/>
                <a:cs typeface="Open Sans Bold"/>
                <a:sym typeface="Open Sans Bold"/>
              </a:rPr>
              <a:t>Select the Model:</a:t>
            </a:r>
          </a:p>
        </p:txBody>
      </p:sp>
      <p:sp>
        <p:nvSpPr>
          <p:cNvPr name="TextBox 35" id="35"/>
          <p:cNvSpPr txBox="true"/>
          <p:nvPr/>
        </p:nvSpPr>
        <p:spPr>
          <a:xfrm rot="0">
            <a:off x="1753031" y="5227856"/>
            <a:ext cx="2012018" cy="356225"/>
          </a:xfrm>
          <a:prstGeom prst="rect">
            <a:avLst/>
          </a:prstGeom>
        </p:spPr>
        <p:txBody>
          <a:bodyPr anchor="t" rtlCol="false" tIns="0" lIns="0" bIns="0" rIns="0">
            <a:spAutoFit/>
          </a:bodyPr>
          <a:lstStyle/>
          <a:p>
            <a:pPr algn="l">
              <a:lnSpc>
                <a:spcPts val="2939"/>
              </a:lnSpc>
              <a:spcBef>
                <a:spcPct val="0"/>
              </a:spcBef>
            </a:pPr>
            <a:r>
              <a:rPr lang="en-US" b="true" sz="2099">
                <a:solidFill>
                  <a:srgbClr val="C101FB"/>
                </a:solidFill>
                <a:latin typeface="Open Sans Bold"/>
                <a:ea typeface="Open Sans Bold"/>
                <a:cs typeface="Open Sans Bold"/>
                <a:sym typeface="Open Sans Bold"/>
              </a:rPr>
              <a:t>Finetune it:</a:t>
            </a:r>
          </a:p>
        </p:txBody>
      </p:sp>
      <p:sp>
        <p:nvSpPr>
          <p:cNvPr name="TextBox 36" id="36"/>
          <p:cNvSpPr txBox="true"/>
          <p:nvPr/>
        </p:nvSpPr>
        <p:spPr>
          <a:xfrm rot="0">
            <a:off x="1753031" y="8159250"/>
            <a:ext cx="7369215" cy="527389"/>
          </a:xfrm>
          <a:prstGeom prst="rect">
            <a:avLst/>
          </a:prstGeom>
        </p:spPr>
        <p:txBody>
          <a:bodyPr anchor="t" rtlCol="false" tIns="0" lIns="0" bIns="0" rIns="0">
            <a:spAutoFit/>
          </a:bodyPr>
          <a:lstStyle/>
          <a:p>
            <a:pPr algn="l" marL="280671" indent="-140336" lvl="1">
              <a:lnSpc>
                <a:spcPts val="2132"/>
              </a:lnSpc>
              <a:buFont typeface="Arial"/>
              <a:buChar char="•"/>
            </a:pPr>
            <a:r>
              <a:rPr lang="en-US" b="true" sz="1300">
                <a:solidFill>
                  <a:srgbClr val="FFFFFF"/>
                </a:solidFill>
                <a:latin typeface="Open Sans Bold"/>
                <a:ea typeface="Open Sans Bold"/>
                <a:cs typeface="Open Sans Bold"/>
                <a:sym typeface="Open Sans Bold"/>
              </a:rPr>
              <a:t>Monitored average loss and training time per epoch.</a:t>
            </a:r>
          </a:p>
          <a:p>
            <a:pPr algn="l" marL="280671" indent="-140336" lvl="1">
              <a:lnSpc>
                <a:spcPts val="2132"/>
              </a:lnSpc>
              <a:buFont typeface="Arial"/>
              <a:buChar char="•"/>
            </a:pPr>
            <a:r>
              <a:rPr lang="en-US" b="true" sz="1300">
                <a:solidFill>
                  <a:srgbClr val="FFFFFF"/>
                </a:solidFill>
                <a:latin typeface="Open Sans Bold"/>
                <a:ea typeface="Open Sans Bold"/>
                <a:cs typeface="Open Sans Bold"/>
                <a:sym typeface="Open Sans Bold"/>
              </a:rPr>
              <a:t>Class weights helped focus on minority classes, improving training performance.</a:t>
            </a:r>
          </a:p>
        </p:txBody>
      </p:sp>
      <p:sp>
        <p:nvSpPr>
          <p:cNvPr name="TextBox 37" id="37"/>
          <p:cNvSpPr txBox="true"/>
          <p:nvPr/>
        </p:nvSpPr>
        <p:spPr>
          <a:xfrm rot="0">
            <a:off x="1911158" y="7719629"/>
            <a:ext cx="2012018" cy="339729"/>
          </a:xfrm>
          <a:prstGeom prst="rect">
            <a:avLst/>
          </a:prstGeom>
        </p:spPr>
        <p:txBody>
          <a:bodyPr anchor="t" rtlCol="false" tIns="0" lIns="0" bIns="0" rIns="0">
            <a:spAutoFit/>
          </a:bodyPr>
          <a:lstStyle/>
          <a:p>
            <a:pPr algn="l">
              <a:lnSpc>
                <a:spcPts val="2799"/>
              </a:lnSpc>
              <a:spcBef>
                <a:spcPct val="0"/>
              </a:spcBef>
            </a:pPr>
            <a:r>
              <a:rPr lang="en-US" b="true" sz="1999">
                <a:solidFill>
                  <a:srgbClr val="C101FB"/>
                </a:solidFill>
                <a:latin typeface="Open Sans Bold"/>
                <a:ea typeface="Open Sans Bold"/>
                <a:cs typeface="Open Sans Bold"/>
                <a:sym typeface="Open Sans Bold"/>
              </a:rPr>
              <a:t>Evaluate: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grpSp>
        <p:nvGrpSpPr>
          <p:cNvPr name="Group 6" id="6"/>
          <p:cNvGrpSpPr/>
          <p:nvPr/>
        </p:nvGrpSpPr>
        <p:grpSpPr>
          <a:xfrm rot="0">
            <a:off x="16230600" y="0"/>
            <a:ext cx="1028700" cy="10287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8" id="8"/>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95202" y="7060732"/>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grpSp>
        <p:nvGrpSpPr>
          <p:cNvPr name="Group 10" id="10"/>
          <p:cNvGrpSpPr/>
          <p:nvPr/>
        </p:nvGrpSpPr>
        <p:grpSpPr>
          <a:xfrm rot="0">
            <a:off x="-69684" y="4229100"/>
            <a:ext cx="18427367" cy="1028700"/>
            <a:chOff x="0" y="0"/>
            <a:chExt cx="14559895" cy="812800"/>
          </a:xfrm>
        </p:grpSpPr>
        <p:sp>
          <p:nvSpPr>
            <p:cNvPr name="Freeform 11" id="11"/>
            <p:cNvSpPr/>
            <p:nvPr/>
          </p:nvSpPr>
          <p:spPr>
            <a:xfrm flipH="false" flipV="false" rot="0">
              <a:off x="0" y="0"/>
              <a:ext cx="14559896" cy="812800"/>
            </a:xfrm>
            <a:custGeom>
              <a:avLst/>
              <a:gdLst/>
              <a:ahLst/>
              <a:cxnLst/>
              <a:rect r="r" b="b" t="t" l="l"/>
              <a:pathLst>
                <a:path h="812800" w="14559896">
                  <a:moveTo>
                    <a:pt x="0" y="0"/>
                  </a:moveTo>
                  <a:lnTo>
                    <a:pt x="14559896" y="0"/>
                  </a:lnTo>
                  <a:lnTo>
                    <a:pt x="14559896"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12" id="12"/>
            <p:cNvSpPr txBox="true"/>
            <p:nvPr/>
          </p:nvSpPr>
          <p:spPr>
            <a:xfrm>
              <a:off x="0" y="-38100"/>
              <a:ext cx="14559895" cy="8509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sp>
        <p:nvSpPr>
          <p:cNvPr name="Freeform 14" id="14"/>
          <p:cNvSpPr/>
          <p:nvPr/>
        </p:nvSpPr>
        <p:spPr>
          <a:xfrm flipH="false" flipV="false" rot="0">
            <a:off x="9850665" y="2606397"/>
            <a:ext cx="7649261" cy="3917118"/>
          </a:xfrm>
          <a:custGeom>
            <a:avLst/>
            <a:gdLst/>
            <a:ahLst/>
            <a:cxnLst/>
            <a:rect r="r" b="b" t="t" l="l"/>
            <a:pathLst>
              <a:path h="3917118" w="7649261">
                <a:moveTo>
                  <a:pt x="0" y="0"/>
                </a:moveTo>
                <a:lnTo>
                  <a:pt x="7649261" y="0"/>
                </a:lnTo>
                <a:lnTo>
                  <a:pt x="7649261" y="3917118"/>
                </a:lnTo>
                <a:lnTo>
                  <a:pt x="0" y="3917118"/>
                </a:lnTo>
                <a:lnTo>
                  <a:pt x="0" y="0"/>
                </a:lnTo>
                <a:close/>
              </a:path>
            </a:pathLst>
          </a:custGeom>
          <a:blipFill>
            <a:blip r:embed="rId3"/>
            <a:stretch>
              <a:fillRect l="0" t="0" r="0" b="0"/>
            </a:stretch>
          </a:blipFill>
        </p:spPr>
      </p:sp>
      <p:sp>
        <p:nvSpPr>
          <p:cNvPr name="Freeform 15" id="15"/>
          <p:cNvSpPr/>
          <p:nvPr/>
        </p:nvSpPr>
        <p:spPr>
          <a:xfrm flipH="false" flipV="false" rot="0">
            <a:off x="733500" y="3405070"/>
            <a:ext cx="7691656" cy="2676761"/>
          </a:xfrm>
          <a:custGeom>
            <a:avLst/>
            <a:gdLst/>
            <a:ahLst/>
            <a:cxnLst/>
            <a:rect r="r" b="b" t="t" l="l"/>
            <a:pathLst>
              <a:path h="2676761" w="7691656">
                <a:moveTo>
                  <a:pt x="0" y="0"/>
                </a:moveTo>
                <a:lnTo>
                  <a:pt x="7691655" y="0"/>
                </a:lnTo>
                <a:lnTo>
                  <a:pt x="7691655" y="2676760"/>
                </a:lnTo>
                <a:lnTo>
                  <a:pt x="0" y="2676760"/>
                </a:lnTo>
                <a:lnTo>
                  <a:pt x="0" y="0"/>
                </a:lnTo>
                <a:close/>
              </a:path>
            </a:pathLst>
          </a:custGeom>
          <a:blipFill>
            <a:blip r:embed="rId4"/>
            <a:stretch>
              <a:fillRect l="0" t="0" r="0" b="0"/>
            </a:stretch>
          </a:blipFill>
        </p:spPr>
      </p:sp>
      <p:sp>
        <p:nvSpPr>
          <p:cNvPr name="TextBox 16" id="16"/>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7" id="17"/>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8" id="18"/>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9" id="19"/>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0" id="20"/>
          <p:cNvSpPr txBox="true"/>
          <p:nvPr/>
        </p:nvSpPr>
        <p:spPr>
          <a:xfrm rot="0">
            <a:off x="5196763" y="1081027"/>
            <a:ext cx="7894475" cy="1193766"/>
          </a:xfrm>
          <a:prstGeom prst="rect">
            <a:avLst/>
          </a:prstGeom>
        </p:spPr>
        <p:txBody>
          <a:bodyPr anchor="t" rtlCol="false" tIns="0" lIns="0" bIns="0" rIns="0">
            <a:spAutoFit/>
          </a:bodyPr>
          <a:lstStyle/>
          <a:p>
            <a:pPr algn="ctr">
              <a:lnSpc>
                <a:spcPts val="9799"/>
              </a:lnSpc>
              <a:spcBef>
                <a:spcPct val="0"/>
              </a:spcBef>
            </a:pPr>
            <a:r>
              <a:rPr lang="en-US" sz="6999">
                <a:solidFill>
                  <a:srgbClr val="C101FB"/>
                </a:solidFill>
                <a:latin typeface="Bebas Neue Cyrillic"/>
                <a:ea typeface="Bebas Neue Cyrillic"/>
                <a:cs typeface="Bebas Neue Cyrillic"/>
                <a:sym typeface="Bebas Neue Cyrillic"/>
              </a:rPr>
              <a:t>model evaluation</a:t>
            </a:r>
          </a:p>
        </p:txBody>
      </p:sp>
      <p:sp>
        <p:nvSpPr>
          <p:cNvPr name="TextBox 21" id="21"/>
          <p:cNvSpPr txBox="true"/>
          <p:nvPr/>
        </p:nvSpPr>
        <p:spPr>
          <a:xfrm rot="0">
            <a:off x="2066370" y="7037865"/>
            <a:ext cx="13812912" cy="2571957"/>
          </a:xfrm>
          <a:prstGeom prst="rect">
            <a:avLst/>
          </a:prstGeom>
        </p:spPr>
        <p:txBody>
          <a:bodyPr anchor="t" rtlCol="false" tIns="0" lIns="0" bIns="0" rIns="0">
            <a:spAutoFit/>
          </a:bodyPr>
          <a:lstStyle/>
          <a:p>
            <a:pPr algn="ctr">
              <a:lnSpc>
                <a:spcPts val="3449"/>
              </a:lnSpc>
            </a:pPr>
            <a:r>
              <a:rPr lang="en-US" sz="2999" b="true">
                <a:solidFill>
                  <a:srgbClr val="FFFFFF"/>
                </a:solidFill>
                <a:latin typeface="Open Sans Bold"/>
                <a:ea typeface="Open Sans Bold"/>
                <a:cs typeface="Open Sans Bold"/>
                <a:sym typeface="Open Sans Bold"/>
              </a:rPr>
              <a:t>The model achieved a Test Accuracy of 96.69%, indicating overall strong performance across all classes.</a:t>
            </a:r>
          </a:p>
          <a:p>
            <a:pPr algn="ctr">
              <a:lnSpc>
                <a:spcPts val="3449"/>
              </a:lnSpc>
            </a:pPr>
          </a:p>
          <a:p>
            <a:pPr algn="ctr">
              <a:lnSpc>
                <a:spcPts val="3449"/>
              </a:lnSpc>
            </a:pPr>
            <a:r>
              <a:rPr lang="en-US" sz="2999" b="true">
                <a:solidFill>
                  <a:srgbClr val="FFFFFF"/>
                </a:solidFill>
                <a:latin typeface="Open Sans Bold"/>
                <a:ea typeface="Open Sans Bold"/>
                <a:cs typeface="Open Sans Bold"/>
                <a:sym typeface="Open Sans Bold"/>
              </a:rPr>
              <a:t>In the classification report, the model performs best on class 2 (F1: 0.99), with lower performance on class 1 (F1: 0.65) and class 0 (F1: 0.85).</a:t>
            </a:r>
          </a:p>
          <a:p>
            <a:pPr algn="ctr">
              <a:lnSpc>
                <a:spcPts val="344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grpSp>
        <p:nvGrpSpPr>
          <p:cNvPr name="Group 6" id="6"/>
          <p:cNvGrpSpPr/>
          <p:nvPr/>
        </p:nvGrpSpPr>
        <p:grpSpPr>
          <a:xfrm rot="0">
            <a:off x="16230600" y="0"/>
            <a:ext cx="1028700" cy="10287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8" id="8"/>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95202" y="7060732"/>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grpSp>
        <p:nvGrpSpPr>
          <p:cNvPr name="Group 10" id="10"/>
          <p:cNvGrpSpPr/>
          <p:nvPr/>
        </p:nvGrpSpPr>
        <p:grpSpPr>
          <a:xfrm rot="0">
            <a:off x="-69684" y="4229100"/>
            <a:ext cx="18427367" cy="1028700"/>
            <a:chOff x="0" y="0"/>
            <a:chExt cx="14559895" cy="812800"/>
          </a:xfrm>
        </p:grpSpPr>
        <p:sp>
          <p:nvSpPr>
            <p:cNvPr name="Freeform 11" id="11"/>
            <p:cNvSpPr/>
            <p:nvPr/>
          </p:nvSpPr>
          <p:spPr>
            <a:xfrm flipH="false" flipV="false" rot="0">
              <a:off x="0" y="0"/>
              <a:ext cx="14559896" cy="812800"/>
            </a:xfrm>
            <a:custGeom>
              <a:avLst/>
              <a:gdLst/>
              <a:ahLst/>
              <a:cxnLst/>
              <a:rect r="r" b="b" t="t" l="l"/>
              <a:pathLst>
                <a:path h="812800" w="14559896">
                  <a:moveTo>
                    <a:pt x="0" y="0"/>
                  </a:moveTo>
                  <a:lnTo>
                    <a:pt x="14559896" y="0"/>
                  </a:lnTo>
                  <a:lnTo>
                    <a:pt x="14559896"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12" id="12"/>
            <p:cNvSpPr txBox="true"/>
            <p:nvPr/>
          </p:nvSpPr>
          <p:spPr>
            <a:xfrm>
              <a:off x="0" y="-38100"/>
              <a:ext cx="14559895" cy="8509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sp>
        <p:nvSpPr>
          <p:cNvPr name="Freeform 14" id="14"/>
          <p:cNvSpPr/>
          <p:nvPr/>
        </p:nvSpPr>
        <p:spPr>
          <a:xfrm flipH="false" flipV="false" rot="0">
            <a:off x="4901280" y="2961041"/>
            <a:ext cx="8794731" cy="6672450"/>
          </a:xfrm>
          <a:custGeom>
            <a:avLst/>
            <a:gdLst/>
            <a:ahLst/>
            <a:cxnLst/>
            <a:rect r="r" b="b" t="t" l="l"/>
            <a:pathLst>
              <a:path h="6672450" w="8794731">
                <a:moveTo>
                  <a:pt x="0" y="0"/>
                </a:moveTo>
                <a:lnTo>
                  <a:pt x="8794731" y="0"/>
                </a:lnTo>
                <a:lnTo>
                  <a:pt x="8794731" y="6672450"/>
                </a:lnTo>
                <a:lnTo>
                  <a:pt x="0" y="6672450"/>
                </a:lnTo>
                <a:lnTo>
                  <a:pt x="0" y="0"/>
                </a:lnTo>
                <a:close/>
              </a:path>
            </a:pathLst>
          </a:custGeom>
          <a:blipFill>
            <a:blip r:embed="rId3"/>
            <a:stretch>
              <a:fillRect l="0" t="0" r="0" b="0"/>
            </a:stretch>
          </a:blipFill>
        </p:spPr>
      </p:sp>
      <p:sp>
        <p:nvSpPr>
          <p:cNvPr name="TextBox 15" id="15"/>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6" id="16"/>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7" id="17"/>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8" id="18"/>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9" id="19"/>
          <p:cNvSpPr txBox="true"/>
          <p:nvPr/>
        </p:nvSpPr>
        <p:spPr>
          <a:xfrm rot="0">
            <a:off x="5196763" y="1081027"/>
            <a:ext cx="7894475" cy="1193766"/>
          </a:xfrm>
          <a:prstGeom prst="rect">
            <a:avLst/>
          </a:prstGeom>
        </p:spPr>
        <p:txBody>
          <a:bodyPr anchor="t" rtlCol="false" tIns="0" lIns="0" bIns="0" rIns="0">
            <a:spAutoFit/>
          </a:bodyPr>
          <a:lstStyle/>
          <a:p>
            <a:pPr algn="ctr">
              <a:lnSpc>
                <a:spcPts val="9799"/>
              </a:lnSpc>
              <a:spcBef>
                <a:spcPct val="0"/>
              </a:spcBef>
            </a:pPr>
            <a:r>
              <a:rPr lang="en-US" sz="6999">
                <a:solidFill>
                  <a:srgbClr val="C101FB"/>
                </a:solidFill>
                <a:latin typeface="Bebas Neue Cyrillic"/>
                <a:ea typeface="Bebas Neue Cyrillic"/>
                <a:cs typeface="Bebas Neue Cyrillic"/>
                <a:sym typeface="Bebas Neue Cyrillic"/>
              </a:rPr>
              <a:t>model evaluation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grpSp>
        <p:nvGrpSpPr>
          <p:cNvPr name="Group 10" id="10"/>
          <p:cNvGrpSpPr/>
          <p:nvPr/>
        </p:nvGrpSpPr>
        <p:grpSpPr>
          <a:xfrm rot="0">
            <a:off x="9144000" y="1684165"/>
            <a:ext cx="8115300" cy="6918669"/>
            <a:chOff x="0" y="0"/>
            <a:chExt cx="6968039" cy="5940576"/>
          </a:xfrm>
        </p:grpSpPr>
        <p:sp>
          <p:nvSpPr>
            <p:cNvPr name="Freeform 11" id="11"/>
            <p:cNvSpPr/>
            <p:nvPr/>
          </p:nvSpPr>
          <p:spPr>
            <a:xfrm flipH="false" flipV="false" rot="0">
              <a:off x="0" y="0"/>
              <a:ext cx="6968039" cy="5940576"/>
            </a:xfrm>
            <a:custGeom>
              <a:avLst/>
              <a:gdLst/>
              <a:ahLst/>
              <a:cxnLst/>
              <a:rect r="r" b="b" t="t" l="l"/>
              <a:pathLst>
                <a:path h="5940576" w="6968039">
                  <a:moveTo>
                    <a:pt x="3167671" y="0"/>
                  </a:moveTo>
                  <a:lnTo>
                    <a:pt x="5127083" y="0"/>
                  </a:lnTo>
                  <a:lnTo>
                    <a:pt x="6968039" y="0"/>
                  </a:lnTo>
                  <a:lnTo>
                    <a:pt x="6968039" y="5136664"/>
                  </a:lnTo>
                  <a:lnTo>
                    <a:pt x="3235957" y="5940576"/>
                  </a:lnTo>
                  <a:lnTo>
                    <a:pt x="0" y="5940576"/>
                  </a:lnTo>
                  <a:lnTo>
                    <a:pt x="0" y="3711395"/>
                  </a:lnTo>
                  <a:close/>
                </a:path>
              </a:pathLst>
            </a:custGeom>
            <a:gradFill rotWithShape="true">
              <a:gsLst>
                <a:gs pos="0">
                  <a:srgbClr val="003A89">
                    <a:alpha val="100000"/>
                  </a:srgbClr>
                </a:gs>
                <a:gs pos="100000">
                  <a:srgbClr val="C700FF">
                    <a:alpha val="100000"/>
                  </a:srgbClr>
                </a:gs>
              </a:gsLst>
              <a:lin ang="2700000"/>
            </a:gradFill>
            <a:ln w="12700">
              <a:solidFill>
                <a:srgbClr val="000000"/>
              </a:solidFill>
            </a:ln>
          </p:spPr>
        </p:sp>
      </p:grpSp>
      <p:grpSp>
        <p:nvGrpSpPr>
          <p:cNvPr name="Group 12" id="12"/>
          <p:cNvGrpSpPr/>
          <p:nvPr/>
        </p:nvGrpSpPr>
        <p:grpSpPr>
          <a:xfrm rot="0">
            <a:off x="9827860" y="2008758"/>
            <a:ext cx="7431440" cy="6269483"/>
            <a:chOff x="0" y="0"/>
            <a:chExt cx="6768047" cy="5709816"/>
          </a:xfrm>
        </p:grpSpPr>
        <p:sp>
          <p:nvSpPr>
            <p:cNvPr name="Freeform 13" id="13"/>
            <p:cNvSpPr/>
            <p:nvPr/>
          </p:nvSpPr>
          <p:spPr>
            <a:xfrm flipH="false" flipV="false" rot="0">
              <a:off x="0" y="0"/>
              <a:ext cx="6768047" cy="5709816"/>
            </a:xfrm>
            <a:custGeom>
              <a:avLst/>
              <a:gdLst/>
              <a:ahLst/>
              <a:cxnLst/>
              <a:rect r="r" b="b" t="t" l="l"/>
              <a:pathLst>
                <a:path h="5709816" w="6768047">
                  <a:moveTo>
                    <a:pt x="3076754" y="0"/>
                  </a:moveTo>
                  <a:lnTo>
                    <a:pt x="4979929" y="0"/>
                  </a:lnTo>
                  <a:lnTo>
                    <a:pt x="6768047" y="0"/>
                  </a:lnTo>
                  <a:lnTo>
                    <a:pt x="6768047" y="4937132"/>
                  </a:lnTo>
                  <a:lnTo>
                    <a:pt x="3143081" y="5709816"/>
                  </a:lnTo>
                  <a:lnTo>
                    <a:pt x="0" y="5709816"/>
                  </a:lnTo>
                  <a:lnTo>
                    <a:pt x="0" y="3567226"/>
                  </a:lnTo>
                  <a:close/>
                </a:path>
              </a:pathLst>
            </a:custGeom>
            <a:blipFill>
              <a:blip r:embed="rId3"/>
              <a:stretch>
                <a:fillRect l="0" t="-24083" r="0" b="-24083"/>
              </a:stretch>
            </a:blipFill>
          </p:spPr>
        </p:sp>
      </p:grpSp>
      <p:sp>
        <p:nvSpPr>
          <p:cNvPr name="Freeform 14" id="14"/>
          <p:cNvSpPr/>
          <p:nvPr/>
        </p:nvSpPr>
        <p:spPr>
          <a:xfrm flipH="false" flipV="false" rot="0">
            <a:off x="-5705100" y="8686639"/>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sp>
        <p:nvSpPr>
          <p:cNvPr name="TextBox 15" id="15"/>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6" id="16"/>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7" id="17"/>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8" id="18"/>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9" id="19"/>
          <p:cNvSpPr txBox="true"/>
          <p:nvPr/>
        </p:nvSpPr>
        <p:spPr>
          <a:xfrm rot="0">
            <a:off x="730712" y="1423327"/>
            <a:ext cx="9839655" cy="979128"/>
          </a:xfrm>
          <a:prstGeom prst="rect">
            <a:avLst/>
          </a:prstGeom>
        </p:spPr>
        <p:txBody>
          <a:bodyPr anchor="t" rtlCol="false" tIns="0" lIns="0" bIns="0" rIns="0">
            <a:spAutoFit/>
          </a:bodyPr>
          <a:lstStyle/>
          <a:p>
            <a:pPr algn="l">
              <a:lnSpc>
                <a:spcPts val="7980"/>
              </a:lnSpc>
              <a:spcBef>
                <a:spcPct val="0"/>
              </a:spcBef>
            </a:pPr>
            <a:r>
              <a:rPr lang="en-US" sz="5700">
                <a:solidFill>
                  <a:srgbClr val="C101FB"/>
                </a:solidFill>
                <a:latin typeface="Bebas Neue Cyrillic"/>
                <a:ea typeface="Bebas Neue Cyrillic"/>
                <a:cs typeface="Bebas Neue Cyrillic"/>
                <a:sym typeface="Bebas Neue Cyrillic"/>
              </a:rPr>
              <a:t>Task 2. Product Category Clustering</a:t>
            </a:r>
          </a:p>
        </p:txBody>
      </p:sp>
      <p:sp>
        <p:nvSpPr>
          <p:cNvPr name="TextBox 20" id="20"/>
          <p:cNvSpPr txBox="true"/>
          <p:nvPr/>
        </p:nvSpPr>
        <p:spPr>
          <a:xfrm rot="0">
            <a:off x="730712" y="2697584"/>
            <a:ext cx="9136615" cy="6169004"/>
          </a:xfrm>
          <a:prstGeom prst="rect">
            <a:avLst/>
          </a:prstGeom>
        </p:spPr>
        <p:txBody>
          <a:bodyPr anchor="t" rtlCol="false" tIns="0" lIns="0" bIns="0" rIns="0">
            <a:spAutoFit/>
          </a:bodyPr>
          <a:lstStyle/>
          <a:p>
            <a:pPr algn="l" marL="410208" indent="-205104" lvl="1">
              <a:lnSpc>
                <a:spcPts val="4331"/>
              </a:lnSpc>
              <a:buAutoNum type="arabicPeriod" startAt="1"/>
            </a:pPr>
            <a:r>
              <a:rPr lang="en-US" b="true" sz="1899">
                <a:solidFill>
                  <a:srgbClr val="FFFFFF"/>
                </a:solidFill>
                <a:latin typeface="Open Sans Bold"/>
                <a:ea typeface="Open Sans Bold"/>
                <a:cs typeface="Open Sans Bold"/>
                <a:sym typeface="Open Sans Bold"/>
              </a:rPr>
              <a:t>Used the name column to extract product category text.</a:t>
            </a:r>
          </a:p>
          <a:p>
            <a:pPr algn="l" marL="410208" indent="-205104" lvl="1">
              <a:lnSpc>
                <a:spcPts val="4331"/>
              </a:lnSpc>
              <a:buAutoNum type="arabicPeriod" startAt="1"/>
            </a:pPr>
            <a:r>
              <a:rPr lang="en-US" b="true" sz="1899">
                <a:solidFill>
                  <a:srgbClr val="FFFFFF"/>
                </a:solidFill>
                <a:latin typeface="Open Sans Bold"/>
                <a:ea typeface="Open Sans Bold"/>
                <a:cs typeface="Open Sans Bold"/>
                <a:sym typeface="Open Sans Bold"/>
              </a:rPr>
              <a:t> </a:t>
            </a:r>
            <a:r>
              <a:rPr lang="en-US" b="true" sz="1899">
                <a:solidFill>
                  <a:srgbClr val="FFFFFF"/>
                </a:solidFill>
                <a:latin typeface="Open Sans Bold"/>
                <a:ea typeface="Open Sans Bold"/>
                <a:cs typeface="Open Sans Bold"/>
                <a:sym typeface="Open Sans Bold"/>
              </a:rPr>
              <a:t>Generated embeddings using the all-MiniLM-L6-v2 model from SentenceTransformers.</a:t>
            </a:r>
          </a:p>
          <a:p>
            <a:pPr algn="l" marL="410208" indent="-205104" lvl="1">
              <a:lnSpc>
                <a:spcPts val="4331"/>
              </a:lnSpc>
              <a:buAutoNum type="arabicPeriod" startAt="1"/>
            </a:pPr>
            <a:r>
              <a:rPr lang="en-US" b="true" sz="1899">
                <a:solidFill>
                  <a:srgbClr val="FFFFFF"/>
                </a:solidFill>
                <a:latin typeface="Open Sans Bold"/>
                <a:ea typeface="Open Sans Bold"/>
                <a:cs typeface="Open Sans Bold"/>
                <a:sym typeface="Open Sans Bold"/>
              </a:rPr>
              <a:t>Applied KMeans clustering with k=5 to group similar categories.</a:t>
            </a:r>
          </a:p>
          <a:p>
            <a:pPr algn="l" marL="410208" indent="-205104" lvl="1">
              <a:lnSpc>
                <a:spcPts val="4331"/>
              </a:lnSpc>
              <a:buAutoNum type="arabicPeriod" startAt="1"/>
            </a:pPr>
            <a:r>
              <a:rPr lang="en-US" b="true" sz="1899">
                <a:solidFill>
                  <a:srgbClr val="FFFFFF"/>
                </a:solidFill>
                <a:latin typeface="Open Sans Bold"/>
                <a:ea typeface="Open Sans Bold"/>
                <a:cs typeface="Open Sans Bold"/>
                <a:sym typeface="Open Sans Bold"/>
              </a:rPr>
              <a:t>Assigned cluster labels to a new column called cluster.</a:t>
            </a:r>
          </a:p>
          <a:p>
            <a:pPr algn="l" marL="410208" indent="-205104" lvl="1">
              <a:lnSpc>
                <a:spcPts val="4331"/>
              </a:lnSpc>
              <a:buAutoNum type="arabicPeriod" startAt="1"/>
            </a:pPr>
            <a:r>
              <a:rPr lang="en-US" b="true" sz="1899">
                <a:solidFill>
                  <a:srgbClr val="FFFFFF"/>
                </a:solidFill>
                <a:latin typeface="Open Sans Bold"/>
                <a:ea typeface="Open Sans Bold"/>
                <a:cs typeface="Open Sans Bold"/>
                <a:sym typeface="Open Sans Bold"/>
              </a:rPr>
              <a:t>Analyzed each cluster to identify meta-categories such as:</a:t>
            </a:r>
          </a:p>
          <a:p>
            <a:pPr algn="l" marL="367029" indent="-183514" lvl="1">
              <a:lnSpc>
                <a:spcPts val="3875"/>
              </a:lnSpc>
              <a:buFont typeface="Arial"/>
              <a:buChar char="•"/>
            </a:pPr>
            <a:r>
              <a:rPr lang="en-US" sz="1699">
                <a:solidFill>
                  <a:srgbClr val="FFFFFF"/>
                </a:solidFill>
                <a:latin typeface="Open Sans"/>
                <a:ea typeface="Open Sans"/>
                <a:cs typeface="Open Sans"/>
                <a:sym typeface="Open Sans"/>
              </a:rPr>
              <a:t>Batteries &amp; Accessories</a:t>
            </a:r>
          </a:p>
          <a:p>
            <a:pPr algn="just" marL="367029" indent="-183514" lvl="1">
              <a:lnSpc>
                <a:spcPts val="3875"/>
              </a:lnSpc>
              <a:buFont typeface="Arial"/>
              <a:buChar char="•"/>
            </a:pPr>
            <a:r>
              <a:rPr lang="en-US" sz="1699">
                <a:solidFill>
                  <a:srgbClr val="FFFFFF"/>
                </a:solidFill>
                <a:latin typeface="Open Sans"/>
                <a:ea typeface="Open Sans"/>
                <a:cs typeface="Open Sans"/>
                <a:sym typeface="Open Sans"/>
              </a:rPr>
              <a:t>Tablets &amp; E-readers</a:t>
            </a:r>
          </a:p>
          <a:p>
            <a:pPr algn="l" marL="367029" indent="-183514" lvl="1">
              <a:lnSpc>
                <a:spcPts val="3875"/>
              </a:lnSpc>
              <a:buFont typeface="Arial"/>
              <a:buChar char="•"/>
            </a:pPr>
            <a:r>
              <a:rPr lang="en-US" sz="1699">
                <a:solidFill>
                  <a:srgbClr val="FFFFFF"/>
                </a:solidFill>
                <a:latin typeface="Open Sans"/>
                <a:ea typeface="Open Sans"/>
                <a:cs typeface="Open Sans"/>
                <a:sym typeface="Open Sans"/>
              </a:rPr>
              <a:t>Fire Devices</a:t>
            </a:r>
          </a:p>
          <a:p>
            <a:pPr algn="l" marL="367029" indent="-183514" lvl="1">
              <a:lnSpc>
                <a:spcPts val="3875"/>
              </a:lnSpc>
              <a:buFont typeface="Arial"/>
              <a:buChar char="•"/>
            </a:pPr>
            <a:r>
              <a:rPr lang="en-US" sz="1699">
                <a:solidFill>
                  <a:srgbClr val="FFFFFF"/>
                </a:solidFill>
                <a:latin typeface="Open Sans"/>
                <a:ea typeface="Open Sans"/>
                <a:cs typeface="Open Sans"/>
                <a:sym typeface="Open Sans"/>
              </a:rPr>
              <a:t>Kids' Tablets</a:t>
            </a:r>
          </a:p>
          <a:p>
            <a:pPr algn="l" marL="367029" indent="-183514" lvl="1">
              <a:lnSpc>
                <a:spcPts val="3875"/>
              </a:lnSpc>
              <a:buFont typeface="Arial"/>
              <a:buChar char="•"/>
            </a:pPr>
            <a:r>
              <a:rPr lang="en-US" sz="1699">
                <a:solidFill>
                  <a:srgbClr val="FFFFFF"/>
                </a:solidFill>
                <a:latin typeface="Open Sans"/>
                <a:ea typeface="Open Sans"/>
                <a:cs typeface="Open Sans"/>
                <a:sym typeface="Open Sans"/>
              </a:rPr>
              <a:t>Smart Devices &amp; Alexa</a:t>
            </a:r>
          </a:p>
          <a:p>
            <a:pPr algn="l">
              <a:lnSpc>
                <a:spcPts val="4331"/>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grpSp>
        <p:nvGrpSpPr>
          <p:cNvPr name="Group 6" id="6"/>
          <p:cNvGrpSpPr/>
          <p:nvPr/>
        </p:nvGrpSpPr>
        <p:grpSpPr>
          <a:xfrm rot="0">
            <a:off x="16230600" y="0"/>
            <a:ext cx="1028700" cy="10287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8" id="8"/>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95202" y="7060732"/>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grpSp>
        <p:nvGrpSpPr>
          <p:cNvPr name="Group 10" id="10"/>
          <p:cNvGrpSpPr/>
          <p:nvPr/>
        </p:nvGrpSpPr>
        <p:grpSpPr>
          <a:xfrm rot="0">
            <a:off x="-69684" y="4229100"/>
            <a:ext cx="18427367" cy="1028700"/>
            <a:chOff x="0" y="0"/>
            <a:chExt cx="14559895" cy="812800"/>
          </a:xfrm>
        </p:grpSpPr>
        <p:sp>
          <p:nvSpPr>
            <p:cNvPr name="Freeform 11" id="11"/>
            <p:cNvSpPr/>
            <p:nvPr/>
          </p:nvSpPr>
          <p:spPr>
            <a:xfrm flipH="false" flipV="false" rot="0">
              <a:off x="0" y="0"/>
              <a:ext cx="14559896" cy="812800"/>
            </a:xfrm>
            <a:custGeom>
              <a:avLst/>
              <a:gdLst/>
              <a:ahLst/>
              <a:cxnLst/>
              <a:rect r="r" b="b" t="t" l="l"/>
              <a:pathLst>
                <a:path h="812800" w="14559896">
                  <a:moveTo>
                    <a:pt x="0" y="0"/>
                  </a:moveTo>
                  <a:lnTo>
                    <a:pt x="14559896" y="0"/>
                  </a:lnTo>
                  <a:lnTo>
                    <a:pt x="14559896"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12" id="12"/>
            <p:cNvSpPr txBox="true"/>
            <p:nvPr/>
          </p:nvSpPr>
          <p:spPr>
            <a:xfrm>
              <a:off x="0" y="-38100"/>
              <a:ext cx="14559895" cy="8509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sp>
        <p:nvSpPr>
          <p:cNvPr name="Freeform 14" id="14"/>
          <p:cNvSpPr/>
          <p:nvPr/>
        </p:nvSpPr>
        <p:spPr>
          <a:xfrm flipH="false" flipV="false" rot="0">
            <a:off x="2920799" y="2952438"/>
            <a:ext cx="11211531" cy="6653998"/>
          </a:xfrm>
          <a:custGeom>
            <a:avLst/>
            <a:gdLst/>
            <a:ahLst/>
            <a:cxnLst/>
            <a:rect r="r" b="b" t="t" l="l"/>
            <a:pathLst>
              <a:path h="6653998" w="11211531">
                <a:moveTo>
                  <a:pt x="0" y="0"/>
                </a:moveTo>
                <a:lnTo>
                  <a:pt x="11211532" y="0"/>
                </a:lnTo>
                <a:lnTo>
                  <a:pt x="11211532" y="6653998"/>
                </a:lnTo>
                <a:lnTo>
                  <a:pt x="0" y="6653998"/>
                </a:lnTo>
                <a:lnTo>
                  <a:pt x="0" y="0"/>
                </a:lnTo>
                <a:close/>
              </a:path>
            </a:pathLst>
          </a:custGeom>
          <a:blipFill>
            <a:blip r:embed="rId3"/>
            <a:stretch>
              <a:fillRect l="0" t="0" r="0" b="0"/>
            </a:stretch>
          </a:blipFill>
        </p:spPr>
      </p:sp>
      <p:sp>
        <p:nvSpPr>
          <p:cNvPr name="TextBox 15" id="15"/>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6" id="16"/>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7" id="17"/>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8" id="18"/>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9" id="19"/>
          <p:cNvSpPr txBox="true"/>
          <p:nvPr/>
        </p:nvSpPr>
        <p:spPr>
          <a:xfrm rot="0">
            <a:off x="4579328" y="1170483"/>
            <a:ext cx="7894475" cy="1193766"/>
          </a:xfrm>
          <a:prstGeom prst="rect">
            <a:avLst/>
          </a:prstGeom>
        </p:spPr>
        <p:txBody>
          <a:bodyPr anchor="t" rtlCol="false" tIns="0" lIns="0" bIns="0" rIns="0">
            <a:spAutoFit/>
          </a:bodyPr>
          <a:lstStyle/>
          <a:p>
            <a:pPr algn="ctr">
              <a:lnSpc>
                <a:spcPts val="9799"/>
              </a:lnSpc>
              <a:spcBef>
                <a:spcPct val="0"/>
              </a:spcBef>
            </a:pPr>
            <a:r>
              <a:rPr lang="en-US" sz="6999">
                <a:solidFill>
                  <a:srgbClr val="C101FB"/>
                </a:solidFill>
                <a:latin typeface="Bebas Neue Cyrillic"/>
                <a:ea typeface="Bebas Neue Cyrillic"/>
                <a:cs typeface="Bebas Neue Cyrillic"/>
                <a:sym typeface="Bebas Neue Cyrillic"/>
              </a:rPr>
              <a:t>Clustring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078890" y="7273429"/>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10" id="10"/>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grpSp>
        <p:nvGrpSpPr>
          <p:cNvPr name="Group 11" id="11"/>
          <p:cNvGrpSpPr/>
          <p:nvPr/>
        </p:nvGrpSpPr>
        <p:grpSpPr>
          <a:xfrm rot="0">
            <a:off x="9144000" y="1684165"/>
            <a:ext cx="8115300" cy="6918669"/>
            <a:chOff x="0" y="0"/>
            <a:chExt cx="6968039" cy="5940576"/>
          </a:xfrm>
        </p:grpSpPr>
        <p:sp>
          <p:nvSpPr>
            <p:cNvPr name="Freeform 12" id="12"/>
            <p:cNvSpPr/>
            <p:nvPr/>
          </p:nvSpPr>
          <p:spPr>
            <a:xfrm flipH="false" flipV="false" rot="0">
              <a:off x="0" y="0"/>
              <a:ext cx="6968039" cy="5940576"/>
            </a:xfrm>
            <a:custGeom>
              <a:avLst/>
              <a:gdLst/>
              <a:ahLst/>
              <a:cxnLst/>
              <a:rect r="r" b="b" t="t" l="l"/>
              <a:pathLst>
                <a:path h="5940576" w="6968039">
                  <a:moveTo>
                    <a:pt x="3167671" y="0"/>
                  </a:moveTo>
                  <a:lnTo>
                    <a:pt x="5127083" y="0"/>
                  </a:lnTo>
                  <a:lnTo>
                    <a:pt x="6968039" y="0"/>
                  </a:lnTo>
                  <a:lnTo>
                    <a:pt x="6968039" y="5136664"/>
                  </a:lnTo>
                  <a:lnTo>
                    <a:pt x="3235957" y="5940576"/>
                  </a:lnTo>
                  <a:lnTo>
                    <a:pt x="0" y="5940576"/>
                  </a:lnTo>
                  <a:lnTo>
                    <a:pt x="0" y="3711395"/>
                  </a:lnTo>
                  <a:close/>
                </a:path>
              </a:pathLst>
            </a:custGeom>
            <a:gradFill rotWithShape="true">
              <a:gsLst>
                <a:gs pos="0">
                  <a:srgbClr val="003A89">
                    <a:alpha val="100000"/>
                  </a:srgbClr>
                </a:gs>
                <a:gs pos="100000">
                  <a:srgbClr val="C700FF">
                    <a:alpha val="100000"/>
                  </a:srgbClr>
                </a:gs>
              </a:gsLst>
              <a:lin ang="2700000"/>
            </a:gradFill>
            <a:ln w="12700">
              <a:solidFill>
                <a:srgbClr val="000000"/>
              </a:solidFill>
            </a:ln>
          </p:spPr>
        </p:sp>
      </p:grpSp>
      <p:grpSp>
        <p:nvGrpSpPr>
          <p:cNvPr name="Group 13" id="13"/>
          <p:cNvGrpSpPr/>
          <p:nvPr/>
        </p:nvGrpSpPr>
        <p:grpSpPr>
          <a:xfrm rot="0">
            <a:off x="9827860" y="2052496"/>
            <a:ext cx="7431440" cy="6269483"/>
            <a:chOff x="0" y="0"/>
            <a:chExt cx="6768047" cy="5709816"/>
          </a:xfrm>
        </p:grpSpPr>
        <p:sp>
          <p:nvSpPr>
            <p:cNvPr name="Freeform 14" id="14"/>
            <p:cNvSpPr/>
            <p:nvPr/>
          </p:nvSpPr>
          <p:spPr>
            <a:xfrm flipH="false" flipV="false" rot="0">
              <a:off x="0" y="0"/>
              <a:ext cx="6768047" cy="5709816"/>
            </a:xfrm>
            <a:custGeom>
              <a:avLst/>
              <a:gdLst/>
              <a:ahLst/>
              <a:cxnLst/>
              <a:rect r="r" b="b" t="t" l="l"/>
              <a:pathLst>
                <a:path h="5709816" w="6768047">
                  <a:moveTo>
                    <a:pt x="3076754" y="0"/>
                  </a:moveTo>
                  <a:lnTo>
                    <a:pt x="4979929" y="0"/>
                  </a:lnTo>
                  <a:lnTo>
                    <a:pt x="6768047" y="0"/>
                  </a:lnTo>
                  <a:lnTo>
                    <a:pt x="6768047" y="4937132"/>
                  </a:lnTo>
                  <a:lnTo>
                    <a:pt x="3143081" y="5709816"/>
                  </a:lnTo>
                  <a:lnTo>
                    <a:pt x="0" y="5709816"/>
                  </a:lnTo>
                  <a:lnTo>
                    <a:pt x="0" y="3567226"/>
                  </a:lnTo>
                  <a:close/>
                </a:path>
              </a:pathLst>
            </a:custGeom>
            <a:blipFill>
              <a:blip r:embed="rId3"/>
              <a:stretch>
                <a:fillRect l="0" t="-9266" r="0" b="-9266"/>
              </a:stretch>
            </a:blipFill>
          </p:spPr>
        </p:sp>
      </p:grpSp>
      <p:grpSp>
        <p:nvGrpSpPr>
          <p:cNvPr name="Group 15" id="15"/>
          <p:cNvGrpSpPr/>
          <p:nvPr/>
        </p:nvGrpSpPr>
        <p:grpSpPr>
          <a:xfrm rot="0">
            <a:off x="880981" y="3624217"/>
            <a:ext cx="677751" cy="67775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17" id="1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8" id="18"/>
          <p:cNvGrpSpPr/>
          <p:nvPr/>
        </p:nvGrpSpPr>
        <p:grpSpPr>
          <a:xfrm rot="0">
            <a:off x="817555" y="5745998"/>
            <a:ext cx="677751" cy="67775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20" id="20"/>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21" id="21"/>
          <p:cNvGrpSpPr/>
          <p:nvPr/>
        </p:nvGrpSpPr>
        <p:grpSpPr>
          <a:xfrm rot="0">
            <a:off x="759772" y="7969812"/>
            <a:ext cx="677751" cy="67775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23" id="2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4" id="24"/>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5" id="25"/>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6" id="26"/>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7" id="27"/>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8" id="28"/>
          <p:cNvSpPr txBox="true"/>
          <p:nvPr/>
        </p:nvSpPr>
        <p:spPr>
          <a:xfrm rot="0">
            <a:off x="521424" y="1595284"/>
            <a:ext cx="10753286" cy="929639"/>
          </a:xfrm>
          <a:prstGeom prst="rect">
            <a:avLst/>
          </a:prstGeom>
        </p:spPr>
        <p:txBody>
          <a:bodyPr anchor="t" rtlCol="false" tIns="0" lIns="0" bIns="0" rIns="0">
            <a:spAutoFit/>
          </a:bodyPr>
          <a:lstStyle/>
          <a:p>
            <a:pPr algn="l">
              <a:lnSpc>
                <a:spcPts val="7560"/>
              </a:lnSpc>
              <a:spcBef>
                <a:spcPct val="0"/>
              </a:spcBef>
            </a:pPr>
            <a:r>
              <a:rPr lang="en-US" sz="5400">
                <a:solidFill>
                  <a:srgbClr val="C101FB"/>
                </a:solidFill>
                <a:latin typeface="Bebas Neue Cyrillic"/>
                <a:ea typeface="Bebas Neue Cyrillic"/>
                <a:cs typeface="Bebas Neue Cyrillic"/>
                <a:sym typeface="Bebas Neue Cyrillic"/>
              </a:rPr>
              <a:t>Task 3. Summarize reviews using generative AI</a:t>
            </a:r>
          </a:p>
        </p:txBody>
      </p:sp>
      <p:sp>
        <p:nvSpPr>
          <p:cNvPr name="TextBox 29" id="29"/>
          <p:cNvSpPr txBox="true"/>
          <p:nvPr/>
        </p:nvSpPr>
        <p:spPr>
          <a:xfrm rot="0">
            <a:off x="1911158" y="3913350"/>
            <a:ext cx="5064880" cy="814368"/>
          </a:xfrm>
          <a:prstGeom prst="rect">
            <a:avLst/>
          </a:prstGeom>
        </p:spPr>
        <p:txBody>
          <a:bodyPr anchor="t" rtlCol="false" tIns="0" lIns="0" bIns="0" rIns="0">
            <a:spAutoFit/>
          </a:bodyPr>
          <a:lstStyle/>
          <a:p>
            <a:pPr algn="l">
              <a:lnSpc>
                <a:spcPts val="2197"/>
              </a:lnSpc>
            </a:pPr>
            <a:r>
              <a:rPr lang="en-US" sz="1300" b="true">
                <a:solidFill>
                  <a:srgbClr val="FFFFFF"/>
                </a:solidFill>
                <a:latin typeface="Open Sans Bold"/>
                <a:ea typeface="Open Sans Bold"/>
                <a:cs typeface="Open Sans Bold"/>
                <a:sym typeface="Open Sans Bold"/>
              </a:rPr>
              <a:t>Used Hugging Face pipelines with the following models:</a:t>
            </a:r>
          </a:p>
          <a:p>
            <a:pPr algn="l" marL="280671" indent="-140336" lvl="1">
              <a:lnSpc>
                <a:spcPts val="2197"/>
              </a:lnSpc>
              <a:buFont typeface="Arial"/>
              <a:buChar char="•"/>
            </a:pPr>
            <a:r>
              <a:rPr lang="en-US" b="true" sz="1300">
                <a:solidFill>
                  <a:srgbClr val="FFFFFF"/>
                </a:solidFill>
                <a:latin typeface="Open Sans Bold"/>
                <a:ea typeface="Open Sans Bold"/>
                <a:cs typeface="Open Sans Bold"/>
                <a:sym typeface="Open Sans Bold"/>
              </a:rPr>
              <a:t>facebook/bart-large-cnn for summarization</a:t>
            </a:r>
          </a:p>
          <a:p>
            <a:pPr algn="l" marL="280671" indent="-140336" lvl="1">
              <a:lnSpc>
                <a:spcPts val="2197"/>
              </a:lnSpc>
              <a:buFont typeface="Arial"/>
              <a:buChar char="•"/>
            </a:pPr>
            <a:r>
              <a:rPr lang="en-US" b="true" sz="1300">
                <a:solidFill>
                  <a:srgbClr val="FFFFFF"/>
                </a:solidFill>
                <a:latin typeface="Open Sans Bold"/>
                <a:ea typeface="Open Sans Bold"/>
                <a:cs typeface="Open Sans Bold"/>
                <a:sym typeface="Open Sans Bold"/>
              </a:rPr>
              <a:t>facebook/bart-large-mnli for zero-shot classification</a:t>
            </a:r>
          </a:p>
        </p:txBody>
      </p:sp>
      <p:sp>
        <p:nvSpPr>
          <p:cNvPr name="TextBox 30" id="30"/>
          <p:cNvSpPr txBox="true"/>
          <p:nvPr/>
        </p:nvSpPr>
        <p:spPr>
          <a:xfrm rot="0">
            <a:off x="971801" y="3934517"/>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01</a:t>
            </a:r>
          </a:p>
        </p:txBody>
      </p:sp>
      <p:sp>
        <p:nvSpPr>
          <p:cNvPr name="TextBox 31" id="31"/>
          <p:cNvSpPr txBox="true"/>
          <p:nvPr/>
        </p:nvSpPr>
        <p:spPr>
          <a:xfrm rot="0">
            <a:off x="1864485" y="5846617"/>
            <a:ext cx="5340992" cy="794068"/>
          </a:xfrm>
          <a:prstGeom prst="rect">
            <a:avLst/>
          </a:prstGeom>
        </p:spPr>
        <p:txBody>
          <a:bodyPr anchor="t" rtlCol="false" tIns="0" lIns="0" bIns="0" rIns="0">
            <a:spAutoFit/>
          </a:bodyPr>
          <a:lstStyle/>
          <a:p>
            <a:pPr algn="l">
              <a:lnSpc>
                <a:spcPts val="2132"/>
              </a:lnSpc>
            </a:pPr>
            <a:r>
              <a:rPr lang="en-US" sz="1300" b="true">
                <a:solidFill>
                  <a:srgbClr val="FFFFFF"/>
                </a:solidFill>
                <a:latin typeface="Open Sans Bold"/>
                <a:ea typeface="Open Sans Bold"/>
                <a:cs typeface="Open Sans Bold"/>
                <a:sym typeface="Open Sans Bold"/>
              </a:rPr>
              <a:t>Created the summarize_reviews function to summarize the top negative reviews for each product using the summarization model.</a:t>
            </a:r>
          </a:p>
        </p:txBody>
      </p:sp>
      <p:sp>
        <p:nvSpPr>
          <p:cNvPr name="TextBox 32" id="32"/>
          <p:cNvSpPr txBox="true"/>
          <p:nvPr/>
        </p:nvSpPr>
        <p:spPr>
          <a:xfrm rot="0">
            <a:off x="908375" y="5921996"/>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02</a:t>
            </a:r>
          </a:p>
        </p:txBody>
      </p:sp>
      <p:sp>
        <p:nvSpPr>
          <p:cNvPr name="TextBox 33" id="33"/>
          <p:cNvSpPr txBox="true"/>
          <p:nvPr/>
        </p:nvSpPr>
        <p:spPr>
          <a:xfrm rot="0">
            <a:off x="880981" y="8159101"/>
            <a:ext cx="496110" cy="29718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03</a:t>
            </a:r>
          </a:p>
        </p:txBody>
      </p:sp>
      <p:sp>
        <p:nvSpPr>
          <p:cNvPr name="TextBox 34" id="34"/>
          <p:cNvSpPr txBox="true"/>
          <p:nvPr/>
        </p:nvSpPr>
        <p:spPr>
          <a:xfrm rot="0">
            <a:off x="2032074" y="3427055"/>
            <a:ext cx="3300053" cy="356225"/>
          </a:xfrm>
          <a:prstGeom prst="rect">
            <a:avLst/>
          </a:prstGeom>
        </p:spPr>
        <p:txBody>
          <a:bodyPr anchor="t" rtlCol="false" tIns="0" lIns="0" bIns="0" rIns="0">
            <a:spAutoFit/>
          </a:bodyPr>
          <a:lstStyle/>
          <a:p>
            <a:pPr algn="l">
              <a:lnSpc>
                <a:spcPts val="2939"/>
              </a:lnSpc>
              <a:spcBef>
                <a:spcPct val="0"/>
              </a:spcBef>
            </a:pPr>
            <a:r>
              <a:rPr lang="en-US" b="true" sz="2099">
                <a:solidFill>
                  <a:srgbClr val="C101FB"/>
                </a:solidFill>
                <a:latin typeface="Open Sans Bold"/>
                <a:ea typeface="Open Sans Bold"/>
                <a:cs typeface="Open Sans Bold"/>
                <a:sym typeface="Open Sans Bold"/>
              </a:rPr>
              <a:t>Load Pre-trained Models</a:t>
            </a:r>
          </a:p>
        </p:txBody>
      </p:sp>
      <p:sp>
        <p:nvSpPr>
          <p:cNvPr name="TextBox 35" id="35"/>
          <p:cNvSpPr txBox="true"/>
          <p:nvPr/>
        </p:nvSpPr>
        <p:spPr>
          <a:xfrm rot="0">
            <a:off x="1795621" y="5385617"/>
            <a:ext cx="3385233" cy="356225"/>
          </a:xfrm>
          <a:prstGeom prst="rect">
            <a:avLst/>
          </a:prstGeom>
        </p:spPr>
        <p:txBody>
          <a:bodyPr anchor="t" rtlCol="false" tIns="0" lIns="0" bIns="0" rIns="0">
            <a:spAutoFit/>
          </a:bodyPr>
          <a:lstStyle/>
          <a:p>
            <a:pPr algn="l">
              <a:lnSpc>
                <a:spcPts val="2939"/>
              </a:lnSpc>
              <a:spcBef>
                <a:spcPct val="0"/>
              </a:spcBef>
            </a:pPr>
            <a:r>
              <a:rPr lang="en-US" b="true" sz="2099">
                <a:solidFill>
                  <a:srgbClr val="C101FB"/>
                </a:solidFill>
                <a:latin typeface="Open Sans Bold"/>
                <a:ea typeface="Open Sans Bold"/>
                <a:cs typeface="Open Sans Bold"/>
                <a:sym typeface="Open Sans Bold"/>
              </a:rPr>
              <a:t>Summarize Complaints</a:t>
            </a:r>
          </a:p>
        </p:txBody>
      </p:sp>
      <p:sp>
        <p:nvSpPr>
          <p:cNvPr name="TextBox 36" id="36"/>
          <p:cNvSpPr txBox="true"/>
          <p:nvPr/>
        </p:nvSpPr>
        <p:spPr>
          <a:xfrm rot="0">
            <a:off x="1753031" y="8159250"/>
            <a:ext cx="7369215" cy="794068"/>
          </a:xfrm>
          <a:prstGeom prst="rect">
            <a:avLst/>
          </a:prstGeom>
        </p:spPr>
        <p:txBody>
          <a:bodyPr anchor="t" rtlCol="false" tIns="0" lIns="0" bIns="0" rIns="0">
            <a:spAutoFit/>
          </a:bodyPr>
          <a:lstStyle/>
          <a:p>
            <a:pPr algn="l">
              <a:lnSpc>
                <a:spcPts val="2132"/>
              </a:lnSpc>
            </a:pPr>
            <a:r>
              <a:rPr lang="en-US" sz="1300" b="true">
                <a:solidFill>
                  <a:srgbClr val="FFFFFF"/>
                </a:solidFill>
                <a:latin typeface="Open Sans Bold"/>
                <a:ea typeface="Open Sans Bold"/>
                <a:cs typeface="Open Sans Bold"/>
                <a:sym typeface="Open Sans Bold"/>
              </a:rPr>
              <a:t>Built the extract_features function to identify main complaint themes using zero-shot classification with a predefined list of labels (e.g., battery, performance, durability, price, etc.).</a:t>
            </a:r>
          </a:p>
        </p:txBody>
      </p:sp>
      <p:sp>
        <p:nvSpPr>
          <p:cNvPr name="TextBox 37" id="37"/>
          <p:cNvSpPr txBox="true"/>
          <p:nvPr/>
        </p:nvSpPr>
        <p:spPr>
          <a:xfrm rot="0">
            <a:off x="1911158" y="7719629"/>
            <a:ext cx="3541887" cy="339729"/>
          </a:xfrm>
          <a:prstGeom prst="rect">
            <a:avLst/>
          </a:prstGeom>
        </p:spPr>
        <p:txBody>
          <a:bodyPr anchor="t" rtlCol="false" tIns="0" lIns="0" bIns="0" rIns="0">
            <a:spAutoFit/>
          </a:bodyPr>
          <a:lstStyle/>
          <a:p>
            <a:pPr algn="l">
              <a:lnSpc>
                <a:spcPts val="2799"/>
              </a:lnSpc>
              <a:spcBef>
                <a:spcPct val="0"/>
              </a:spcBef>
            </a:pPr>
            <a:r>
              <a:rPr lang="en-US" b="true" sz="1999">
                <a:solidFill>
                  <a:srgbClr val="C101FB"/>
                </a:solidFill>
                <a:latin typeface="Open Sans Bold"/>
                <a:ea typeface="Open Sans Bold"/>
                <a:cs typeface="Open Sans Bold"/>
                <a:sym typeface="Open Sans Bold"/>
              </a:rPr>
              <a:t> Extract Key Features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078890" y="7273429"/>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10" id="10"/>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grpSp>
        <p:nvGrpSpPr>
          <p:cNvPr name="Group 11" id="11"/>
          <p:cNvGrpSpPr/>
          <p:nvPr/>
        </p:nvGrpSpPr>
        <p:grpSpPr>
          <a:xfrm rot="0">
            <a:off x="9144000" y="1684165"/>
            <a:ext cx="8115300" cy="6918669"/>
            <a:chOff x="0" y="0"/>
            <a:chExt cx="6968039" cy="5940576"/>
          </a:xfrm>
        </p:grpSpPr>
        <p:sp>
          <p:nvSpPr>
            <p:cNvPr name="Freeform 12" id="12"/>
            <p:cNvSpPr/>
            <p:nvPr/>
          </p:nvSpPr>
          <p:spPr>
            <a:xfrm flipH="false" flipV="false" rot="0">
              <a:off x="0" y="0"/>
              <a:ext cx="6968039" cy="5940576"/>
            </a:xfrm>
            <a:custGeom>
              <a:avLst/>
              <a:gdLst/>
              <a:ahLst/>
              <a:cxnLst/>
              <a:rect r="r" b="b" t="t" l="l"/>
              <a:pathLst>
                <a:path h="5940576" w="6968039">
                  <a:moveTo>
                    <a:pt x="3167671" y="0"/>
                  </a:moveTo>
                  <a:lnTo>
                    <a:pt x="5127083" y="0"/>
                  </a:lnTo>
                  <a:lnTo>
                    <a:pt x="6968039" y="0"/>
                  </a:lnTo>
                  <a:lnTo>
                    <a:pt x="6968039" y="5136664"/>
                  </a:lnTo>
                  <a:lnTo>
                    <a:pt x="3235957" y="5940576"/>
                  </a:lnTo>
                  <a:lnTo>
                    <a:pt x="0" y="5940576"/>
                  </a:lnTo>
                  <a:lnTo>
                    <a:pt x="0" y="3711395"/>
                  </a:lnTo>
                  <a:close/>
                </a:path>
              </a:pathLst>
            </a:custGeom>
            <a:gradFill rotWithShape="true">
              <a:gsLst>
                <a:gs pos="0">
                  <a:srgbClr val="003A89">
                    <a:alpha val="100000"/>
                  </a:srgbClr>
                </a:gs>
                <a:gs pos="100000">
                  <a:srgbClr val="C700FF">
                    <a:alpha val="100000"/>
                  </a:srgbClr>
                </a:gs>
              </a:gsLst>
              <a:lin ang="2700000"/>
            </a:gradFill>
            <a:ln w="12700">
              <a:solidFill>
                <a:srgbClr val="000000"/>
              </a:solidFill>
            </a:ln>
          </p:spPr>
        </p:sp>
      </p:grpSp>
      <p:grpSp>
        <p:nvGrpSpPr>
          <p:cNvPr name="Group 13" id="13"/>
          <p:cNvGrpSpPr/>
          <p:nvPr/>
        </p:nvGrpSpPr>
        <p:grpSpPr>
          <a:xfrm rot="0">
            <a:off x="9827860" y="2052496"/>
            <a:ext cx="7431440" cy="6269483"/>
            <a:chOff x="0" y="0"/>
            <a:chExt cx="6768047" cy="5709816"/>
          </a:xfrm>
        </p:grpSpPr>
        <p:sp>
          <p:nvSpPr>
            <p:cNvPr name="Freeform 14" id="14"/>
            <p:cNvSpPr/>
            <p:nvPr/>
          </p:nvSpPr>
          <p:spPr>
            <a:xfrm flipH="false" flipV="false" rot="0">
              <a:off x="0" y="0"/>
              <a:ext cx="6768047" cy="5709816"/>
            </a:xfrm>
            <a:custGeom>
              <a:avLst/>
              <a:gdLst/>
              <a:ahLst/>
              <a:cxnLst/>
              <a:rect r="r" b="b" t="t" l="l"/>
              <a:pathLst>
                <a:path h="5709816" w="6768047">
                  <a:moveTo>
                    <a:pt x="3076754" y="0"/>
                  </a:moveTo>
                  <a:lnTo>
                    <a:pt x="4979929" y="0"/>
                  </a:lnTo>
                  <a:lnTo>
                    <a:pt x="6768047" y="0"/>
                  </a:lnTo>
                  <a:lnTo>
                    <a:pt x="6768047" y="4937132"/>
                  </a:lnTo>
                  <a:lnTo>
                    <a:pt x="3143081" y="5709816"/>
                  </a:lnTo>
                  <a:lnTo>
                    <a:pt x="0" y="5709816"/>
                  </a:lnTo>
                  <a:lnTo>
                    <a:pt x="0" y="3567226"/>
                  </a:lnTo>
                  <a:close/>
                </a:path>
              </a:pathLst>
            </a:custGeom>
            <a:blipFill>
              <a:blip r:embed="rId3"/>
              <a:stretch>
                <a:fillRect l="0" t="-9266" r="0" b="-9266"/>
              </a:stretch>
            </a:blipFill>
          </p:spPr>
        </p:sp>
      </p:grpSp>
      <p:grpSp>
        <p:nvGrpSpPr>
          <p:cNvPr name="Group 15" id="15"/>
          <p:cNvGrpSpPr/>
          <p:nvPr/>
        </p:nvGrpSpPr>
        <p:grpSpPr>
          <a:xfrm rot="0">
            <a:off x="880981" y="3624217"/>
            <a:ext cx="677751" cy="67775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17" id="17"/>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18" id="18"/>
          <p:cNvGrpSpPr/>
          <p:nvPr/>
        </p:nvGrpSpPr>
        <p:grpSpPr>
          <a:xfrm rot="0">
            <a:off x="817555" y="5745998"/>
            <a:ext cx="677751" cy="67775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20" id="20"/>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grpSp>
        <p:nvGrpSpPr>
          <p:cNvPr name="Group 21" id="21"/>
          <p:cNvGrpSpPr/>
          <p:nvPr/>
        </p:nvGrpSpPr>
        <p:grpSpPr>
          <a:xfrm rot="0">
            <a:off x="759772" y="7969812"/>
            <a:ext cx="677751" cy="67775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23" id="23"/>
            <p:cNvSpPr txBox="true"/>
            <p:nvPr/>
          </p:nvSpPr>
          <p:spPr>
            <a:xfrm>
              <a:off x="0" y="-47625"/>
              <a:ext cx="812800" cy="860425"/>
            </a:xfrm>
            <a:prstGeom prst="rect">
              <a:avLst/>
            </a:prstGeom>
          </p:spPr>
          <p:txBody>
            <a:bodyPr anchor="ctr" rtlCol="false" tIns="50800" lIns="50800" bIns="50800" rIns="50800"/>
            <a:lstStyle/>
            <a:p>
              <a:pPr algn="ctr">
                <a:lnSpc>
                  <a:spcPts val="2239"/>
                </a:lnSpc>
              </a:pPr>
            </a:p>
          </p:txBody>
        </p:sp>
      </p:grpSp>
      <p:sp>
        <p:nvSpPr>
          <p:cNvPr name="TextBox 24" id="24"/>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25" id="25"/>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26" id="26"/>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27" id="27"/>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28" id="28"/>
          <p:cNvSpPr txBox="true"/>
          <p:nvPr/>
        </p:nvSpPr>
        <p:spPr>
          <a:xfrm rot="0">
            <a:off x="521424" y="1595284"/>
            <a:ext cx="10753286" cy="929639"/>
          </a:xfrm>
          <a:prstGeom prst="rect">
            <a:avLst/>
          </a:prstGeom>
        </p:spPr>
        <p:txBody>
          <a:bodyPr anchor="t" rtlCol="false" tIns="0" lIns="0" bIns="0" rIns="0">
            <a:spAutoFit/>
          </a:bodyPr>
          <a:lstStyle/>
          <a:p>
            <a:pPr algn="l">
              <a:lnSpc>
                <a:spcPts val="7560"/>
              </a:lnSpc>
              <a:spcBef>
                <a:spcPct val="0"/>
              </a:spcBef>
            </a:pPr>
            <a:r>
              <a:rPr lang="en-US" sz="5400">
                <a:solidFill>
                  <a:srgbClr val="C101FB"/>
                </a:solidFill>
                <a:latin typeface="Bebas Neue Cyrillic"/>
                <a:ea typeface="Bebas Neue Cyrillic"/>
                <a:cs typeface="Bebas Neue Cyrillic"/>
                <a:sym typeface="Bebas Neue Cyrillic"/>
              </a:rPr>
              <a:t>Task 3. Summarize reviews using generative AI</a:t>
            </a:r>
          </a:p>
        </p:txBody>
      </p:sp>
      <p:sp>
        <p:nvSpPr>
          <p:cNvPr name="TextBox 29" id="29"/>
          <p:cNvSpPr txBox="true"/>
          <p:nvPr/>
        </p:nvSpPr>
        <p:spPr>
          <a:xfrm rot="0">
            <a:off x="1911158" y="3913350"/>
            <a:ext cx="6085614" cy="1090565"/>
          </a:xfrm>
          <a:prstGeom prst="rect">
            <a:avLst/>
          </a:prstGeom>
        </p:spPr>
        <p:txBody>
          <a:bodyPr anchor="t" rtlCol="false" tIns="0" lIns="0" bIns="0" rIns="0">
            <a:spAutoFit/>
          </a:bodyPr>
          <a:lstStyle/>
          <a:p>
            <a:pPr algn="l" marL="280671" indent="-140336" lvl="1">
              <a:lnSpc>
                <a:spcPts val="2197"/>
              </a:lnSpc>
              <a:buFont typeface="Arial"/>
              <a:buChar char="•"/>
            </a:pPr>
            <a:r>
              <a:rPr lang="en-US" b="true" sz="1300">
                <a:solidFill>
                  <a:srgbClr val="FFFFFF"/>
                </a:solidFill>
                <a:latin typeface="Open Sans Bold"/>
                <a:ea typeface="Open Sans Bold"/>
                <a:cs typeface="Open Sans Bold"/>
                <a:sym typeface="Open Sans Bold"/>
              </a:rPr>
              <a:t>Selected the top 3 products based on the number of positive reviews.</a:t>
            </a:r>
          </a:p>
          <a:p>
            <a:pPr algn="l" marL="280671" indent="-140336" lvl="1">
              <a:lnSpc>
                <a:spcPts val="2197"/>
              </a:lnSpc>
              <a:buFont typeface="Arial"/>
              <a:buChar char="•"/>
            </a:pPr>
            <a:r>
              <a:rPr lang="en-US" b="true" sz="1300">
                <a:solidFill>
                  <a:srgbClr val="FFFFFF"/>
                </a:solidFill>
                <a:latin typeface="Open Sans Bold"/>
                <a:ea typeface="Open Sans Bold"/>
                <a:cs typeface="Open Sans Bold"/>
                <a:sym typeface="Open Sans Bold"/>
              </a:rPr>
              <a:t>Identified the worst product based on the number of negative reviews.</a:t>
            </a:r>
          </a:p>
          <a:p>
            <a:pPr algn="l">
              <a:lnSpc>
                <a:spcPts val="2197"/>
              </a:lnSpc>
            </a:pPr>
          </a:p>
        </p:txBody>
      </p:sp>
      <p:sp>
        <p:nvSpPr>
          <p:cNvPr name="TextBox 30" id="30"/>
          <p:cNvSpPr txBox="true"/>
          <p:nvPr/>
        </p:nvSpPr>
        <p:spPr>
          <a:xfrm rot="0">
            <a:off x="971801" y="3934517"/>
            <a:ext cx="496110" cy="297211"/>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04</a:t>
            </a:r>
          </a:p>
        </p:txBody>
      </p:sp>
      <p:sp>
        <p:nvSpPr>
          <p:cNvPr name="TextBox 31" id="31"/>
          <p:cNvSpPr txBox="true"/>
          <p:nvPr/>
        </p:nvSpPr>
        <p:spPr>
          <a:xfrm rot="0">
            <a:off x="1901633" y="5812663"/>
            <a:ext cx="6645264" cy="1327427"/>
          </a:xfrm>
          <a:prstGeom prst="rect">
            <a:avLst/>
          </a:prstGeom>
        </p:spPr>
        <p:txBody>
          <a:bodyPr anchor="t" rtlCol="false" tIns="0" lIns="0" bIns="0" rIns="0">
            <a:spAutoFit/>
          </a:bodyPr>
          <a:lstStyle/>
          <a:p>
            <a:pPr algn="l">
              <a:lnSpc>
                <a:spcPts val="2132"/>
              </a:lnSpc>
            </a:pPr>
            <a:r>
              <a:rPr lang="en-US" sz="1300" b="true">
                <a:solidFill>
                  <a:srgbClr val="FFFFFF"/>
                </a:solidFill>
                <a:latin typeface="Open Sans Bold"/>
                <a:ea typeface="Open Sans Bold"/>
                <a:cs typeface="Open Sans Bold"/>
                <a:sym typeface="Open Sans Bold"/>
              </a:rPr>
              <a:t>For each meta-category:</a:t>
            </a:r>
          </a:p>
          <a:p>
            <a:pPr algn="l" marL="280671" indent="-140336" lvl="1">
              <a:lnSpc>
                <a:spcPts val="2132"/>
              </a:lnSpc>
              <a:buFont typeface="Arial"/>
              <a:buChar char="•"/>
            </a:pPr>
            <a:r>
              <a:rPr lang="en-US" b="true" sz="1300">
                <a:solidFill>
                  <a:srgbClr val="FFFFFF"/>
                </a:solidFill>
                <a:latin typeface="Open Sans Bold"/>
                <a:ea typeface="Open Sans Bold"/>
                <a:cs typeface="Open Sans Bold"/>
                <a:sym typeface="Open Sans Bold"/>
              </a:rPr>
              <a:t>Highlighted top products, their features, and key complaints.</a:t>
            </a:r>
          </a:p>
          <a:p>
            <a:pPr algn="l" marL="280671" indent="-140336" lvl="1">
              <a:lnSpc>
                <a:spcPts val="2132"/>
              </a:lnSpc>
              <a:buFont typeface="Arial"/>
              <a:buChar char="•"/>
            </a:pPr>
            <a:r>
              <a:rPr lang="en-US" b="true" sz="1300">
                <a:solidFill>
                  <a:srgbClr val="FFFFFF"/>
                </a:solidFill>
                <a:latin typeface="Open Sans Bold"/>
                <a:ea typeface="Open Sans Bold"/>
                <a:cs typeface="Open Sans Bold"/>
                <a:sym typeface="Open Sans Bold"/>
              </a:rPr>
              <a:t>Concluded with the worst-rated product and a summary of why it should be avoided.</a:t>
            </a:r>
          </a:p>
          <a:p>
            <a:pPr algn="l">
              <a:lnSpc>
                <a:spcPts val="2132"/>
              </a:lnSpc>
            </a:pPr>
          </a:p>
        </p:txBody>
      </p:sp>
      <p:sp>
        <p:nvSpPr>
          <p:cNvPr name="TextBox 32" id="32"/>
          <p:cNvSpPr txBox="true"/>
          <p:nvPr/>
        </p:nvSpPr>
        <p:spPr>
          <a:xfrm rot="0">
            <a:off x="908375" y="5921996"/>
            <a:ext cx="496110" cy="297211"/>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05</a:t>
            </a:r>
          </a:p>
        </p:txBody>
      </p:sp>
      <p:sp>
        <p:nvSpPr>
          <p:cNvPr name="TextBox 33" id="33"/>
          <p:cNvSpPr txBox="true"/>
          <p:nvPr/>
        </p:nvSpPr>
        <p:spPr>
          <a:xfrm rot="0">
            <a:off x="880981" y="8159101"/>
            <a:ext cx="496110" cy="297211"/>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Open Sans Bold"/>
                <a:ea typeface="Open Sans Bold"/>
                <a:cs typeface="Open Sans Bold"/>
                <a:sym typeface="Open Sans Bold"/>
              </a:rPr>
              <a:t>06</a:t>
            </a:r>
          </a:p>
        </p:txBody>
      </p:sp>
      <p:sp>
        <p:nvSpPr>
          <p:cNvPr name="TextBox 34" id="34"/>
          <p:cNvSpPr txBox="true"/>
          <p:nvPr/>
        </p:nvSpPr>
        <p:spPr>
          <a:xfrm rot="0">
            <a:off x="1911158" y="3427055"/>
            <a:ext cx="4264080" cy="356225"/>
          </a:xfrm>
          <a:prstGeom prst="rect">
            <a:avLst/>
          </a:prstGeom>
        </p:spPr>
        <p:txBody>
          <a:bodyPr anchor="t" rtlCol="false" tIns="0" lIns="0" bIns="0" rIns="0">
            <a:spAutoFit/>
          </a:bodyPr>
          <a:lstStyle/>
          <a:p>
            <a:pPr algn="l">
              <a:lnSpc>
                <a:spcPts val="2939"/>
              </a:lnSpc>
              <a:spcBef>
                <a:spcPct val="0"/>
              </a:spcBef>
            </a:pPr>
            <a:r>
              <a:rPr lang="en-US" b="true" sz="2099">
                <a:solidFill>
                  <a:srgbClr val="C101FB"/>
                </a:solidFill>
                <a:latin typeface="Open Sans Bold"/>
                <a:ea typeface="Open Sans Bold"/>
                <a:cs typeface="Open Sans Bold"/>
                <a:sym typeface="Open Sans Bold"/>
              </a:rPr>
              <a:t>Identify Top &amp; Worst Products</a:t>
            </a:r>
          </a:p>
        </p:txBody>
      </p:sp>
      <p:sp>
        <p:nvSpPr>
          <p:cNvPr name="TextBox 35" id="35"/>
          <p:cNvSpPr txBox="true"/>
          <p:nvPr/>
        </p:nvSpPr>
        <p:spPr>
          <a:xfrm rot="0">
            <a:off x="1809575" y="5361188"/>
            <a:ext cx="4467245" cy="356225"/>
          </a:xfrm>
          <a:prstGeom prst="rect">
            <a:avLst/>
          </a:prstGeom>
        </p:spPr>
        <p:txBody>
          <a:bodyPr anchor="t" rtlCol="false" tIns="0" lIns="0" bIns="0" rIns="0">
            <a:spAutoFit/>
          </a:bodyPr>
          <a:lstStyle/>
          <a:p>
            <a:pPr algn="l">
              <a:lnSpc>
                <a:spcPts val="2939"/>
              </a:lnSpc>
              <a:spcBef>
                <a:spcPct val="0"/>
              </a:spcBef>
            </a:pPr>
            <a:r>
              <a:rPr lang="en-US" b="true" sz="2099">
                <a:solidFill>
                  <a:srgbClr val="C101FB"/>
                </a:solidFill>
                <a:latin typeface="Open Sans Bold"/>
                <a:ea typeface="Open Sans Bold"/>
                <a:cs typeface="Open Sans Bold"/>
                <a:sym typeface="Open Sans Bold"/>
              </a:rPr>
              <a:t> Generate Articles per Category</a:t>
            </a:r>
          </a:p>
        </p:txBody>
      </p:sp>
      <p:sp>
        <p:nvSpPr>
          <p:cNvPr name="TextBox 36" id="36"/>
          <p:cNvSpPr txBox="true"/>
          <p:nvPr/>
        </p:nvSpPr>
        <p:spPr>
          <a:xfrm rot="0">
            <a:off x="1753031" y="8159250"/>
            <a:ext cx="6533719" cy="527389"/>
          </a:xfrm>
          <a:prstGeom prst="rect">
            <a:avLst/>
          </a:prstGeom>
        </p:spPr>
        <p:txBody>
          <a:bodyPr anchor="t" rtlCol="false" tIns="0" lIns="0" bIns="0" rIns="0">
            <a:spAutoFit/>
          </a:bodyPr>
          <a:lstStyle/>
          <a:p>
            <a:pPr algn="l">
              <a:lnSpc>
                <a:spcPts val="2132"/>
              </a:lnSpc>
            </a:pPr>
            <a:r>
              <a:rPr lang="en-US" sz="1300" b="true">
                <a:solidFill>
                  <a:srgbClr val="FFFFFF"/>
                </a:solidFill>
                <a:latin typeface="Open Sans Bold"/>
                <a:ea typeface="Open Sans Bold"/>
                <a:cs typeface="Open Sans Bold"/>
                <a:sym typeface="Open Sans Bold"/>
              </a:rPr>
              <a:t>Printed a short article per category recommending the best products, showing key differences, and advising against the lowest-rated product.</a:t>
            </a:r>
          </a:p>
        </p:txBody>
      </p:sp>
      <p:sp>
        <p:nvSpPr>
          <p:cNvPr name="TextBox 37" id="37"/>
          <p:cNvSpPr txBox="true"/>
          <p:nvPr/>
        </p:nvSpPr>
        <p:spPr>
          <a:xfrm rot="0">
            <a:off x="1911158" y="7719629"/>
            <a:ext cx="3541887" cy="339729"/>
          </a:xfrm>
          <a:prstGeom prst="rect">
            <a:avLst/>
          </a:prstGeom>
        </p:spPr>
        <p:txBody>
          <a:bodyPr anchor="t" rtlCol="false" tIns="0" lIns="0" bIns="0" rIns="0">
            <a:spAutoFit/>
          </a:bodyPr>
          <a:lstStyle/>
          <a:p>
            <a:pPr algn="l">
              <a:lnSpc>
                <a:spcPts val="2799"/>
              </a:lnSpc>
              <a:spcBef>
                <a:spcPct val="0"/>
              </a:spcBef>
            </a:pPr>
            <a:r>
              <a:rPr lang="en-US" b="true" sz="1999">
                <a:solidFill>
                  <a:srgbClr val="C101FB"/>
                </a:solidFill>
                <a:latin typeface="Open Sans Bold"/>
                <a:ea typeface="Open Sans Bold"/>
                <a:cs typeface="Open Sans Bold"/>
                <a:sym typeface="Open Sans Bold"/>
              </a:rPr>
              <a:t>Output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613336" y="485721"/>
            <a:ext cx="267646" cy="280926"/>
          </a:xfrm>
          <a:custGeom>
            <a:avLst/>
            <a:gdLst/>
            <a:ahLst/>
            <a:cxnLst/>
            <a:rect r="r" b="b" t="t" l="l"/>
            <a:pathLst>
              <a:path h="280926" w="267646">
                <a:moveTo>
                  <a:pt x="0" y="0"/>
                </a:moveTo>
                <a:lnTo>
                  <a:pt x="267645" y="0"/>
                </a:lnTo>
                <a:lnTo>
                  <a:pt x="267645" y="280926"/>
                </a:lnTo>
                <a:lnTo>
                  <a:pt x="0" y="2809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95202" y="7060732"/>
            <a:ext cx="5974530" cy="5974530"/>
          </a:xfrm>
          <a:custGeom>
            <a:avLst/>
            <a:gdLst/>
            <a:ahLst/>
            <a:cxnLst/>
            <a:rect r="r" b="b" t="t" l="l"/>
            <a:pathLst>
              <a:path h="5974530" w="5974530">
                <a:moveTo>
                  <a:pt x="0" y="0"/>
                </a:moveTo>
                <a:lnTo>
                  <a:pt x="5974530" y="0"/>
                </a:lnTo>
                <a:lnTo>
                  <a:pt x="5974530" y="5974530"/>
                </a:lnTo>
                <a:lnTo>
                  <a:pt x="0" y="5974530"/>
                </a:lnTo>
                <a:lnTo>
                  <a:pt x="0" y="0"/>
                </a:lnTo>
                <a:close/>
              </a:path>
            </a:pathLst>
          </a:custGeom>
          <a:blipFill>
            <a:blip r:embed="rId4">
              <a:alphaModFix amt="43999"/>
            </a:blip>
            <a:stretch>
              <a:fillRect l="0" t="0" r="0" b="0"/>
            </a:stretch>
          </a:blipFill>
        </p:spPr>
      </p:sp>
      <p:sp>
        <p:nvSpPr>
          <p:cNvPr name="TextBox 10" id="10"/>
          <p:cNvSpPr txBox="true"/>
          <p:nvPr/>
        </p:nvSpPr>
        <p:spPr>
          <a:xfrm rot="0">
            <a:off x="1039108" y="517674"/>
            <a:ext cx="174410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Ingoude Company</a:t>
            </a:r>
          </a:p>
        </p:txBody>
      </p:sp>
      <p:sp>
        <p:nvSpPr>
          <p:cNvPr name="TextBox 11" id="11"/>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2" id="12"/>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3" id="13"/>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4" id="14"/>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Freeform 15" id="15"/>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4">
              <a:alphaModFix amt="43999"/>
            </a:blip>
            <a:stretch>
              <a:fillRect l="0" t="0" r="0" b="0"/>
            </a:stretch>
          </a:blipFill>
        </p:spPr>
      </p:sp>
      <p:sp>
        <p:nvSpPr>
          <p:cNvPr name="Freeform 16" id="16"/>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4">
              <a:alphaModFix amt="43999"/>
            </a:blip>
            <a:stretch>
              <a:fillRect l="0" t="0" r="0" b="0"/>
            </a:stretch>
          </a:blipFill>
        </p:spPr>
      </p:sp>
      <p:sp>
        <p:nvSpPr>
          <p:cNvPr name="TextBox 17" id="17"/>
          <p:cNvSpPr txBox="true"/>
          <p:nvPr/>
        </p:nvSpPr>
        <p:spPr>
          <a:xfrm rot="0">
            <a:off x="747158" y="7826937"/>
            <a:ext cx="7805859" cy="1910985"/>
          </a:xfrm>
          <a:prstGeom prst="rect">
            <a:avLst/>
          </a:prstGeom>
        </p:spPr>
        <p:txBody>
          <a:bodyPr anchor="t" rtlCol="false" tIns="0" lIns="0" bIns="0" rIns="0">
            <a:spAutoFit/>
          </a:bodyPr>
          <a:lstStyle/>
          <a:p>
            <a:pPr algn="l">
              <a:lnSpc>
                <a:spcPts val="9785"/>
              </a:lnSpc>
              <a:spcBef>
                <a:spcPct val="0"/>
              </a:spcBef>
            </a:pPr>
            <a:r>
              <a:rPr lang="en-US" sz="6989">
                <a:solidFill>
                  <a:srgbClr val="C101FB"/>
                </a:solidFill>
                <a:latin typeface="Bebas Neue Cyrillic"/>
                <a:ea typeface="Bebas Neue Cyrillic"/>
                <a:cs typeface="Bebas Neue Cyrillic"/>
                <a:sym typeface="Bebas Neue Cyrillic"/>
              </a:rPr>
              <a:t>1 Article Example</a:t>
            </a:r>
          </a:p>
          <a:p>
            <a:pPr algn="l">
              <a:lnSpc>
                <a:spcPts val="5305"/>
              </a:lnSpc>
              <a:spcBef>
                <a:spcPct val="0"/>
              </a:spcBef>
            </a:pPr>
            <a:r>
              <a:rPr lang="en-US" sz="3789">
                <a:solidFill>
                  <a:srgbClr val="C101FB"/>
                </a:solidFill>
                <a:latin typeface="Bebas Neue Cyrillic"/>
                <a:ea typeface="Bebas Neue Cyrillic"/>
                <a:cs typeface="Bebas Neue Cyrillic"/>
                <a:sym typeface="Bebas Neue Cyrillic"/>
              </a:rPr>
              <a:t>-Article for category: Smart Devices &amp; Alexa-</a:t>
            </a:r>
          </a:p>
        </p:txBody>
      </p:sp>
      <p:sp>
        <p:nvSpPr>
          <p:cNvPr name="TextBox 18" id="18"/>
          <p:cNvSpPr txBox="true"/>
          <p:nvPr/>
        </p:nvSpPr>
        <p:spPr>
          <a:xfrm rot="0">
            <a:off x="747158" y="1751327"/>
            <a:ext cx="13864788" cy="5790137"/>
          </a:xfrm>
          <a:prstGeom prst="rect">
            <a:avLst/>
          </a:prstGeom>
        </p:spPr>
        <p:txBody>
          <a:bodyPr anchor="t" rtlCol="false" tIns="0" lIns="0" bIns="0" rIns="0">
            <a:spAutoFit/>
          </a:bodyPr>
          <a:lstStyle/>
          <a:p>
            <a:pPr algn="l">
              <a:lnSpc>
                <a:spcPts val="2563"/>
              </a:lnSpc>
            </a:pPr>
            <a:r>
              <a:rPr lang="en-US" sz="1831">
                <a:solidFill>
                  <a:srgbClr val="FFFFFF"/>
                </a:solidFill>
                <a:latin typeface="Open Sans"/>
                <a:ea typeface="Open Sans"/>
                <a:cs typeface="Open Sans"/>
                <a:sym typeface="Open Sans"/>
              </a:rPr>
              <a:t>Among the top-rated, the Amazon Echo Show Alexa-enabled Bluetooth Speaker with 7" Screen stands out for its voice recognition, response, performance, screen, connectivity, price, and setup. However, users have reported issues such as the plug adapter to turn on and off lights and TV is useful and certainly worth having. YouTube was one of the main features that I used. Without YouTube, you'll be better off buying the $40 Echo Dot instead.</a:t>
            </a:r>
          </a:p>
          <a:p>
            <a:pPr algn="l">
              <a:lnSpc>
                <a:spcPts val="2563"/>
              </a:lnSpc>
            </a:pPr>
          </a:p>
          <a:p>
            <a:pPr algn="l">
              <a:lnSpc>
                <a:spcPts val="2563"/>
              </a:lnSpc>
            </a:pPr>
            <a:r>
              <a:rPr lang="en-US" sz="1831">
                <a:solidFill>
                  <a:srgbClr val="FFFFFF"/>
                </a:solidFill>
                <a:latin typeface="Open Sans"/>
                <a:ea typeface="Open Sans"/>
                <a:cs typeface="Open Sans"/>
                <a:sym typeface="Open Sans"/>
              </a:rPr>
              <a:t>The Amazon - Echo Plus w/ Built-In Hub - Silver stands out for its voice recognition, response, performance, connectivity, and quality. However, users have reported issues such as this does not give great answers and the connection is not that great. Waste of money, ask Alexa a question and you are lucky if you get an answer instead of "I'm not sure."</a:t>
            </a:r>
          </a:p>
          <a:p>
            <a:pPr algn="l">
              <a:lnSpc>
                <a:spcPts val="2563"/>
              </a:lnSpc>
            </a:pPr>
          </a:p>
          <a:p>
            <a:pPr algn="l">
              <a:lnSpc>
                <a:spcPts val="2563"/>
              </a:lnSpc>
            </a:pPr>
            <a:r>
              <a:rPr lang="en-US" sz="1831">
                <a:solidFill>
                  <a:srgbClr val="FFFFFF"/>
                </a:solidFill>
                <a:latin typeface="Open Sans"/>
                <a:ea typeface="Open Sans"/>
                <a:cs typeface="Open Sans"/>
                <a:sym typeface="Open Sans"/>
              </a:rPr>
              <a:t>Another well-reviewed device, the Amazon Tap Smart Assistant Alexa-enabled (black) Brand New stands out for its voice recognition, price, response, performance, connectivity, screen, setup, and quality. However, users have reported issues such as this is fun but would not buy again. My first problem: it didn’t pair. Since I purchased it, returned a couple of times, and now it is dead — I have to return it again.</a:t>
            </a:r>
          </a:p>
          <a:p>
            <a:pPr algn="l">
              <a:lnSpc>
                <a:spcPts val="2563"/>
              </a:lnSpc>
            </a:pPr>
          </a:p>
          <a:p>
            <a:pPr algn="l">
              <a:lnSpc>
                <a:spcPts val="2563"/>
              </a:lnSpc>
            </a:pPr>
            <a:r>
              <a:rPr lang="en-US" sz="1831">
                <a:solidFill>
                  <a:srgbClr val="FFFFFF"/>
                </a:solidFill>
                <a:latin typeface="Open Sans"/>
                <a:ea typeface="Open Sans"/>
                <a:cs typeface="Open Sans"/>
                <a:sym typeface="Open Sans"/>
              </a:rPr>
              <a:t>Overall, consumers are advised to avoid the Amazon Tap Smart Assistant Alexa-enabled (black) Brand New, which has been frequently flagged for problems such as this is fun but would not buy again. My first problem: it didn’t pair. Since I purchased it, returned a couple of times, and now it is dead — I have to return it again.</a:t>
            </a:r>
          </a:p>
          <a:p>
            <a:pPr algn="l">
              <a:lnSpc>
                <a:spcPts val="2563"/>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sp>
        <p:nvSpPr>
          <p:cNvPr name="Freeform 10" id="10"/>
          <p:cNvSpPr/>
          <p:nvPr/>
        </p:nvSpPr>
        <p:spPr>
          <a:xfrm flipH="false" flipV="false" rot="0">
            <a:off x="6336608" y="4618675"/>
            <a:ext cx="4533222" cy="1611110"/>
          </a:xfrm>
          <a:custGeom>
            <a:avLst/>
            <a:gdLst/>
            <a:ahLst/>
            <a:cxnLst/>
            <a:rect r="r" b="b" t="t" l="l"/>
            <a:pathLst>
              <a:path h="1611110" w="4533222">
                <a:moveTo>
                  <a:pt x="0" y="0"/>
                </a:moveTo>
                <a:lnTo>
                  <a:pt x="4533222" y="0"/>
                </a:lnTo>
                <a:lnTo>
                  <a:pt x="4533222" y="1611110"/>
                </a:lnTo>
                <a:lnTo>
                  <a:pt x="0" y="1611110"/>
                </a:lnTo>
                <a:lnTo>
                  <a:pt x="0" y="0"/>
                </a:lnTo>
                <a:close/>
              </a:path>
            </a:pathLst>
          </a:custGeom>
          <a:blipFill>
            <a:blip r:embed="rId3"/>
            <a:stretch>
              <a:fillRect l="0" t="0" r="0" b="0"/>
            </a:stretch>
          </a:blipFill>
        </p:spPr>
      </p:sp>
      <p:sp>
        <p:nvSpPr>
          <p:cNvPr name="TextBox 11" id="11"/>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2" id="12"/>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3" id="13"/>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4" id="14"/>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5" id="15"/>
          <p:cNvSpPr txBox="true"/>
          <p:nvPr/>
        </p:nvSpPr>
        <p:spPr>
          <a:xfrm rot="0">
            <a:off x="1959151" y="2657423"/>
            <a:ext cx="13288136" cy="1394457"/>
          </a:xfrm>
          <a:prstGeom prst="rect">
            <a:avLst/>
          </a:prstGeom>
        </p:spPr>
        <p:txBody>
          <a:bodyPr anchor="t" rtlCol="false" tIns="0" lIns="0" bIns="0" rIns="0">
            <a:spAutoFit/>
          </a:bodyPr>
          <a:lstStyle/>
          <a:p>
            <a:pPr algn="l">
              <a:lnSpc>
                <a:spcPts val="11339"/>
              </a:lnSpc>
              <a:spcBef>
                <a:spcPct val="0"/>
              </a:spcBef>
            </a:pPr>
            <a:r>
              <a:rPr lang="en-US" sz="8099">
                <a:solidFill>
                  <a:srgbClr val="C101FB"/>
                </a:solidFill>
                <a:latin typeface="Bebas Neue Cyrillic"/>
                <a:ea typeface="Bebas Neue Cyrillic"/>
                <a:cs typeface="Bebas Neue Cyrillic"/>
                <a:sym typeface="Bebas Neue Cyrillic"/>
              </a:rPr>
              <a:t>Task 4 : Deployment Locally on Gardio</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sp>
        <p:nvSpPr>
          <p:cNvPr name="Freeform 10" id="10"/>
          <p:cNvSpPr/>
          <p:nvPr/>
        </p:nvSpPr>
        <p:spPr>
          <a:xfrm flipH="false" flipV="false" rot="0">
            <a:off x="3723783" y="2363443"/>
            <a:ext cx="9632562" cy="5421756"/>
          </a:xfrm>
          <a:custGeom>
            <a:avLst/>
            <a:gdLst/>
            <a:ahLst/>
            <a:cxnLst/>
            <a:rect r="r" b="b" t="t" l="l"/>
            <a:pathLst>
              <a:path h="5421756" w="9632562">
                <a:moveTo>
                  <a:pt x="0" y="0"/>
                </a:moveTo>
                <a:lnTo>
                  <a:pt x="9632563" y="0"/>
                </a:lnTo>
                <a:lnTo>
                  <a:pt x="9632563" y="5421756"/>
                </a:lnTo>
                <a:lnTo>
                  <a:pt x="0" y="5421756"/>
                </a:lnTo>
                <a:lnTo>
                  <a:pt x="0" y="0"/>
                </a:lnTo>
                <a:close/>
              </a:path>
            </a:pathLst>
          </a:custGeom>
          <a:blipFill>
            <a:blip r:embed="rId3"/>
            <a:stretch>
              <a:fillRect l="0" t="0" r="0" b="0"/>
            </a:stretch>
          </a:blipFill>
        </p:spPr>
      </p:sp>
      <p:sp>
        <p:nvSpPr>
          <p:cNvPr name="TextBox 11" id="11"/>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2" id="12"/>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3" id="13"/>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4" id="14"/>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5" id="15"/>
          <p:cNvSpPr txBox="true"/>
          <p:nvPr/>
        </p:nvSpPr>
        <p:spPr>
          <a:xfrm rot="0">
            <a:off x="1959151" y="759436"/>
            <a:ext cx="13288136" cy="1394457"/>
          </a:xfrm>
          <a:prstGeom prst="rect">
            <a:avLst/>
          </a:prstGeom>
        </p:spPr>
        <p:txBody>
          <a:bodyPr anchor="t" rtlCol="false" tIns="0" lIns="0" bIns="0" rIns="0">
            <a:spAutoFit/>
          </a:bodyPr>
          <a:lstStyle/>
          <a:p>
            <a:pPr algn="l">
              <a:lnSpc>
                <a:spcPts val="11339"/>
              </a:lnSpc>
              <a:spcBef>
                <a:spcPct val="0"/>
              </a:spcBef>
            </a:pPr>
            <a:r>
              <a:rPr lang="en-US" sz="8099">
                <a:solidFill>
                  <a:srgbClr val="C101FB"/>
                </a:solidFill>
                <a:latin typeface="Bebas Neue Cyrillic"/>
                <a:ea typeface="Bebas Neue Cyrillic"/>
                <a:cs typeface="Bebas Neue Cyrillic"/>
                <a:sym typeface="Bebas Neue Cyrillic"/>
              </a:rPr>
              <a:t>Task 4 : Deployment Locally on Gardio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053D">
                <a:alpha val="100000"/>
              </a:srgbClr>
            </a:gs>
            <a:gs pos="100000">
              <a:srgbClr val="0C001E">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8119337" y="7969812"/>
            <a:ext cx="168663" cy="1288488"/>
            <a:chOff x="0" y="0"/>
            <a:chExt cx="229432" cy="1752723"/>
          </a:xfrm>
        </p:grpSpPr>
        <p:sp>
          <p:nvSpPr>
            <p:cNvPr name="Freeform 3" id="3"/>
            <p:cNvSpPr/>
            <p:nvPr/>
          </p:nvSpPr>
          <p:spPr>
            <a:xfrm flipH="false" flipV="false" rot="0">
              <a:off x="0" y="0"/>
              <a:ext cx="229432" cy="1752723"/>
            </a:xfrm>
            <a:custGeom>
              <a:avLst/>
              <a:gdLst/>
              <a:ahLst/>
              <a:cxnLst/>
              <a:rect r="r" b="b" t="t" l="l"/>
              <a:pathLst>
                <a:path h="1752723" w="229432">
                  <a:moveTo>
                    <a:pt x="0" y="0"/>
                  </a:moveTo>
                  <a:lnTo>
                    <a:pt x="229432" y="0"/>
                  </a:lnTo>
                  <a:lnTo>
                    <a:pt x="229432" y="1752723"/>
                  </a:lnTo>
                  <a:lnTo>
                    <a:pt x="0" y="1752723"/>
                  </a:lnTo>
                  <a:close/>
                </a:path>
              </a:pathLst>
            </a:custGeom>
            <a:gradFill rotWithShape="true">
              <a:gsLst>
                <a:gs pos="0">
                  <a:srgbClr val="003A89">
                    <a:alpha val="100000"/>
                  </a:srgbClr>
                </a:gs>
                <a:gs pos="100000">
                  <a:srgbClr val="C700FF">
                    <a:alpha val="100000"/>
                  </a:srgbClr>
                </a:gs>
              </a:gsLst>
              <a:lin ang="2700000"/>
            </a:gradFill>
          </p:spPr>
        </p:sp>
        <p:sp>
          <p:nvSpPr>
            <p:cNvPr name="TextBox 4" id="4"/>
            <p:cNvSpPr txBox="true"/>
            <p:nvPr/>
          </p:nvSpPr>
          <p:spPr>
            <a:xfrm>
              <a:off x="0" y="-38100"/>
              <a:ext cx="229432" cy="179082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23060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003A89">
                    <a:alpha val="100000"/>
                  </a:srgbClr>
                </a:gs>
                <a:gs pos="100000">
                  <a:srgbClr val="C700FF">
                    <a:alpha val="100000"/>
                  </a:srgbClr>
                </a:gs>
              </a:gsLst>
              <a:lin ang="270000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879283" y="766647"/>
            <a:ext cx="4817434" cy="4817434"/>
          </a:xfrm>
          <a:custGeom>
            <a:avLst/>
            <a:gdLst/>
            <a:ahLst/>
            <a:cxnLst/>
            <a:rect r="r" b="b" t="t" l="l"/>
            <a:pathLst>
              <a:path h="4817434" w="4817434">
                <a:moveTo>
                  <a:pt x="0" y="0"/>
                </a:moveTo>
                <a:lnTo>
                  <a:pt x="4817434" y="0"/>
                </a:lnTo>
                <a:lnTo>
                  <a:pt x="4817434" y="4817434"/>
                </a:lnTo>
                <a:lnTo>
                  <a:pt x="0" y="4817434"/>
                </a:lnTo>
                <a:lnTo>
                  <a:pt x="0" y="0"/>
                </a:lnTo>
                <a:close/>
              </a:path>
            </a:pathLst>
          </a:custGeom>
          <a:blipFill>
            <a:blip r:embed="rId2">
              <a:alphaModFix amt="43999"/>
            </a:blip>
            <a:stretch>
              <a:fillRect l="0" t="0" r="0" b="0"/>
            </a:stretch>
          </a:blipFill>
        </p:spPr>
      </p:sp>
      <p:sp>
        <p:nvSpPr>
          <p:cNvPr name="Freeform 9" id="9"/>
          <p:cNvSpPr/>
          <p:nvPr/>
        </p:nvSpPr>
        <p:spPr>
          <a:xfrm flipH="false" flipV="false" rot="0">
            <a:off x="3700611" y="-1967240"/>
            <a:ext cx="3504866" cy="3504866"/>
          </a:xfrm>
          <a:custGeom>
            <a:avLst/>
            <a:gdLst/>
            <a:ahLst/>
            <a:cxnLst/>
            <a:rect r="r" b="b" t="t" l="l"/>
            <a:pathLst>
              <a:path h="3504866" w="3504866">
                <a:moveTo>
                  <a:pt x="0" y="0"/>
                </a:moveTo>
                <a:lnTo>
                  <a:pt x="3504866" y="0"/>
                </a:lnTo>
                <a:lnTo>
                  <a:pt x="3504866" y="3504867"/>
                </a:lnTo>
                <a:lnTo>
                  <a:pt x="0" y="3504867"/>
                </a:lnTo>
                <a:lnTo>
                  <a:pt x="0" y="0"/>
                </a:lnTo>
                <a:close/>
              </a:path>
            </a:pathLst>
          </a:custGeom>
          <a:blipFill>
            <a:blip r:embed="rId2">
              <a:alphaModFix amt="43999"/>
            </a:blip>
            <a:stretch>
              <a:fillRect l="0" t="0" r="0" b="0"/>
            </a:stretch>
          </a:blipFill>
        </p:spPr>
      </p:sp>
      <p:sp>
        <p:nvSpPr>
          <p:cNvPr name="TextBox 10" id="10"/>
          <p:cNvSpPr txBox="true"/>
          <p:nvPr/>
        </p:nvSpPr>
        <p:spPr>
          <a:xfrm rot="0">
            <a:off x="149121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1" id="11"/>
          <p:cNvSpPr txBox="true"/>
          <p:nvPr/>
        </p:nvSpPr>
        <p:spPr>
          <a:xfrm rot="0">
            <a:off x="133563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2" id="12"/>
          <p:cNvSpPr txBox="true"/>
          <p:nvPr/>
        </p:nvSpPr>
        <p:spPr>
          <a:xfrm rot="0">
            <a:off x="121255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3" id="13"/>
          <p:cNvSpPr txBox="true"/>
          <p:nvPr/>
        </p:nvSpPr>
        <p:spPr>
          <a:xfrm rot="0">
            <a:off x="108698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grpSp>
        <p:nvGrpSpPr>
          <p:cNvPr name="Group 14" id="14"/>
          <p:cNvGrpSpPr/>
          <p:nvPr/>
        </p:nvGrpSpPr>
        <p:grpSpPr>
          <a:xfrm rot="0">
            <a:off x="0" y="5143500"/>
            <a:ext cx="880981" cy="5143500"/>
            <a:chOff x="0" y="0"/>
            <a:chExt cx="696084" cy="4064000"/>
          </a:xfrm>
        </p:grpSpPr>
        <p:sp>
          <p:nvSpPr>
            <p:cNvPr name="Freeform 15" id="15"/>
            <p:cNvSpPr/>
            <p:nvPr/>
          </p:nvSpPr>
          <p:spPr>
            <a:xfrm flipH="false" flipV="false" rot="0">
              <a:off x="0" y="0"/>
              <a:ext cx="696084" cy="4064000"/>
            </a:xfrm>
            <a:custGeom>
              <a:avLst/>
              <a:gdLst/>
              <a:ahLst/>
              <a:cxnLst/>
              <a:rect r="r" b="b" t="t" l="l"/>
              <a:pathLst>
                <a:path h="4064000" w="696084">
                  <a:moveTo>
                    <a:pt x="0" y="0"/>
                  </a:moveTo>
                  <a:lnTo>
                    <a:pt x="696084" y="0"/>
                  </a:lnTo>
                  <a:lnTo>
                    <a:pt x="696084" y="4064000"/>
                  </a:lnTo>
                  <a:lnTo>
                    <a:pt x="0" y="4064000"/>
                  </a:lnTo>
                  <a:close/>
                </a:path>
              </a:pathLst>
            </a:custGeom>
            <a:gradFill rotWithShape="true">
              <a:gsLst>
                <a:gs pos="0">
                  <a:srgbClr val="003A89">
                    <a:alpha val="100000"/>
                  </a:srgbClr>
                </a:gs>
                <a:gs pos="100000">
                  <a:srgbClr val="C700FF">
                    <a:alpha val="100000"/>
                  </a:srgbClr>
                </a:gs>
              </a:gsLst>
              <a:lin ang="2700000"/>
            </a:gradFill>
          </p:spPr>
        </p:sp>
        <p:sp>
          <p:nvSpPr>
            <p:cNvPr name="TextBox 16" id="16"/>
            <p:cNvSpPr txBox="true"/>
            <p:nvPr/>
          </p:nvSpPr>
          <p:spPr>
            <a:xfrm>
              <a:off x="0" y="-38100"/>
              <a:ext cx="696084" cy="410210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4020843" y="3311193"/>
            <a:ext cx="9335503" cy="3283613"/>
          </a:xfrm>
          <a:prstGeom prst="rect">
            <a:avLst/>
          </a:prstGeom>
        </p:spPr>
        <p:txBody>
          <a:bodyPr anchor="t" rtlCol="false" tIns="0" lIns="0" bIns="0" rIns="0">
            <a:spAutoFit/>
          </a:bodyPr>
          <a:lstStyle/>
          <a:p>
            <a:pPr algn="l">
              <a:lnSpc>
                <a:spcPts val="26841"/>
              </a:lnSpc>
              <a:spcBef>
                <a:spcPct val="0"/>
              </a:spcBef>
            </a:pPr>
            <a:r>
              <a:rPr lang="en-US" sz="19172">
                <a:solidFill>
                  <a:srgbClr val="FFFFFF"/>
                </a:solidFill>
                <a:latin typeface="Bebas Neue Cyrillic"/>
                <a:ea typeface="Bebas Neue Cyrillic"/>
                <a:cs typeface="Bebas Neue Cyrillic"/>
                <a:sym typeface="Bebas Neue Cyrillic"/>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DAGklsydXzg</dc:identifier>
  <dcterms:modified xsi:type="dcterms:W3CDTF">2011-08-01T06:04:30Z</dcterms:modified>
  <cp:revision>1</cp:revision>
  <dc:title>Purple Futuristic Technology Presentation</dc:title>
</cp:coreProperties>
</file>